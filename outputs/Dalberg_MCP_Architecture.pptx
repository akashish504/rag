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0120" y="2103120"/>
            <a:ext cx="10058400" cy="2743200"/>
          </a:xfrm>
          <a:prstGeom prst="rect">
            <a:avLst/>
          </a:prstGeom>
          <a:noFill/>
        </p:spPr>
        <p:txBody>
          <a:bodyPr wrap="square" lIns="0" rIns="0" tIns="0" bIns="0">
            <a:spAutoFit/>
          </a:bodyPr>
          <a:lstStyle/>
          <a:p>
            <a:r>
              <a:rPr sz="1300" b="1" i="0">
                <a:solidFill>
                  <a:srgbClr val="0E9F92"/>
                </a:solidFill>
                <a:latin typeface="Arial"/>
              </a:rPr>
              <a:t>SYSTEM ARCHITECTURE</a:t>
            </a:r>
          </a:p>
          <a:p>
            <a:pPr>
              <a:spcBef>
                <a:spcPts val="1400"/>
              </a:spcBef>
            </a:pPr>
            <a:r>
              <a:rPr sz="4400" b="1" i="0">
                <a:solidFill>
                  <a:srgbClr val="FFFFFF"/>
                </a:solidFill>
                <a:latin typeface="Arial"/>
              </a:rPr>
              <a:t>Dalberg MCP Retrieval Platform</a:t>
            </a:r>
          </a:p>
          <a:p>
            <a:pPr>
              <a:spcBef>
                <a:spcPts val="1200"/>
              </a:spcBef>
            </a:pPr>
            <a:r>
              <a:rPr sz="1800" b="0" i="0">
                <a:solidFill>
                  <a:srgbClr val="B4C7D9"/>
                </a:solidFill>
                <a:latin typeface="Arial"/>
              </a:rPr>
              <a:t>How Dalberg's internal knowledge gets into a search index — and how Claude searches it</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What the system is</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2</a:t>
            </a:r>
          </a:p>
        </p:txBody>
      </p:sp>
      <p:sp>
        <p:nvSpPr>
          <p:cNvPr id="6" name="TextBox 5"/>
          <p:cNvSpPr txBox="1"/>
          <p:nvPr/>
        </p:nvSpPr>
        <p:spPr>
          <a:xfrm>
            <a:off x="566928" y="1234440"/>
            <a:ext cx="11057839" cy="731520"/>
          </a:xfrm>
          <a:prstGeom prst="rect">
            <a:avLst/>
          </a:prstGeom>
          <a:noFill/>
        </p:spPr>
        <p:txBody>
          <a:bodyPr wrap="square" lIns="0" rIns="0" tIns="0" bIns="0">
            <a:spAutoFit/>
          </a:bodyPr>
          <a:lstStyle/>
          <a:p>
            <a:r>
              <a:rPr sz="1600" b="0" i="0">
                <a:solidFill>
                  <a:srgbClr val="33475C"/>
                </a:solidFill>
                <a:latin typeface="Arial"/>
              </a:rPr>
              <a:t>A server that lets </a:t>
            </a:r>
            <a:r>
              <a:rPr sz="1600" b="1" i="0">
                <a:solidFill>
                  <a:srgbClr val="0B1F33"/>
                </a:solidFill>
                <a:latin typeface="Arial"/>
              </a:rPr>
              <a:t>Claude.ai search Dalberg's internal knowledge</a:t>
            </a:r>
            <a:r>
              <a:rPr sz="1600" b="0" i="0">
                <a:solidFill>
                  <a:srgbClr val="33475C"/>
                </a:solidFill>
                <a:latin typeface="Arial"/>
              </a:rPr>
              <a:t> — people, past projects, proposals and research — and answer with </a:t>
            </a:r>
            <a:r>
              <a:rPr sz="1600" b="1" i="0">
                <a:solidFill>
                  <a:srgbClr val="0B1F33"/>
                </a:solidFill>
                <a:latin typeface="Arial"/>
              </a:rPr>
              <a:t>links back to the source documents</a:t>
            </a:r>
            <a:r>
              <a:rPr sz="1600" b="0" i="0">
                <a:solidFill>
                  <a:srgbClr val="33475C"/>
                </a:solidFill>
                <a:latin typeface="Arial"/>
              </a:rPr>
              <a:t>.</a:t>
            </a:r>
          </a:p>
        </p:txBody>
      </p:sp>
      <p:sp>
        <p:nvSpPr>
          <p:cNvPr id="7" name="Rounded Rectangle 6"/>
          <p:cNvSpPr/>
          <p:nvPr/>
        </p:nvSpPr>
        <p:spPr>
          <a:xfrm>
            <a:off x="566928" y="2103120"/>
            <a:ext cx="2079894" cy="10058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76656" y="2231136"/>
            <a:ext cx="1860438" cy="822960"/>
          </a:xfrm>
          <a:prstGeom prst="rect">
            <a:avLst/>
          </a:prstGeom>
          <a:noFill/>
        </p:spPr>
        <p:txBody>
          <a:bodyPr wrap="square" lIns="0" rIns="0" tIns="0" bIns="0">
            <a:spAutoFit/>
          </a:bodyPr>
          <a:lstStyle/>
          <a:p>
            <a:pPr algn="ctr"/>
            <a:r>
              <a:rPr sz="2200" b="1" i="0">
                <a:solidFill>
                  <a:srgbClr val="2D6CDF"/>
                </a:solidFill>
                <a:latin typeface="Arial"/>
              </a:rPr>
              <a:t>4</a:t>
            </a:r>
          </a:p>
          <a:p>
            <a:pPr algn="ctr">
              <a:spcBef>
                <a:spcPts val="300"/>
              </a:spcBef>
            </a:pPr>
            <a:r>
              <a:rPr sz="1100" b="0" i="0">
                <a:solidFill>
                  <a:srgbClr val="6B7C8C"/>
                </a:solidFill>
                <a:latin typeface="Arial"/>
              </a:rPr>
              <a:t>knowledge sources</a:t>
            </a:r>
          </a:p>
        </p:txBody>
      </p:sp>
      <p:sp>
        <p:nvSpPr>
          <p:cNvPr id="9" name="Rounded Rectangle 8"/>
          <p:cNvSpPr/>
          <p:nvPr/>
        </p:nvSpPr>
        <p:spPr>
          <a:xfrm>
            <a:off x="2811414" y="2103120"/>
            <a:ext cx="2079894" cy="10058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921142" y="2231136"/>
            <a:ext cx="1860438" cy="822960"/>
          </a:xfrm>
          <a:prstGeom prst="rect">
            <a:avLst/>
          </a:prstGeom>
          <a:noFill/>
        </p:spPr>
        <p:txBody>
          <a:bodyPr wrap="square" lIns="0" rIns="0" tIns="0" bIns="0">
            <a:spAutoFit/>
          </a:bodyPr>
          <a:lstStyle/>
          <a:p>
            <a:pPr algn="ctr"/>
            <a:r>
              <a:rPr sz="2200" b="1" i="0">
                <a:solidFill>
                  <a:srgbClr val="2D6CDF"/>
                </a:solidFill>
                <a:latin typeface="Arial"/>
              </a:rPr>
              <a:t>7</a:t>
            </a:r>
          </a:p>
          <a:p>
            <a:pPr algn="ctr">
              <a:spcBef>
                <a:spcPts val="300"/>
              </a:spcBef>
            </a:pPr>
            <a:r>
              <a:rPr sz="1100" b="0" i="0">
                <a:solidFill>
                  <a:srgbClr val="6B7C8C"/>
                </a:solidFill>
                <a:latin typeface="Arial"/>
              </a:rPr>
              <a:t>tools Claude can call</a:t>
            </a:r>
          </a:p>
        </p:txBody>
      </p:sp>
      <p:sp>
        <p:nvSpPr>
          <p:cNvPr id="11" name="Rounded Rectangle 10"/>
          <p:cNvSpPr/>
          <p:nvPr/>
        </p:nvSpPr>
        <p:spPr>
          <a:xfrm>
            <a:off x="5055900" y="2103120"/>
            <a:ext cx="2079894" cy="10058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165628" y="2231136"/>
            <a:ext cx="1860438" cy="822960"/>
          </a:xfrm>
          <a:prstGeom prst="rect">
            <a:avLst/>
          </a:prstGeom>
          <a:noFill/>
        </p:spPr>
        <p:txBody>
          <a:bodyPr wrap="square" lIns="0" rIns="0" tIns="0" bIns="0">
            <a:spAutoFit/>
          </a:bodyPr>
          <a:lstStyle/>
          <a:p>
            <a:pPr algn="ctr"/>
            <a:r>
              <a:rPr sz="2200" b="1" i="0">
                <a:solidFill>
                  <a:srgbClr val="2D6CDF"/>
                </a:solidFill>
                <a:latin typeface="Arial"/>
              </a:rPr>
              <a:t>2</a:t>
            </a:r>
          </a:p>
          <a:p>
            <a:pPr algn="ctr">
              <a:spcBef>
                <a:spcPts val="300"/>
              </a:spcBef>
            </a:pPr>
            <a:r>
              <a:rPr sz="1100" b="0" i="0">
                <a:solidFill>
                  <a:srgbClr val="6B7C8C"/>
                </a:solidFill>
                <a:latin typeface="Arial"/>
              </a:rPr>
              <a:t>planes: ingest + serve</a:t>
            </a:r>
          </a:p>
        </p:txBody>
      </p:sp>
      <p:sp>
        <p:nvSpPr>
          <p:cNvPr id="13" name="Rounded Rectangle 12"/>
          <p:cNvSpPr/>
          <p:nvPr/>
        </p:nvSpPr>
        <p:spPr>
          <a:xfrm>
            <a:off x="7300386" y="2103120"/>
            <a:ext cx="2079894" cy="10058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10114" y="2231136"/>
            <a:ext cx="1860438" cy="822960"/>
          </a:xfrm>
          <a:prstGeom prst="rect">
            <a:avLst/>
          </a:prstGeom>
          <a:noFill/>
        </p:spPr>
        <p:txBody>
          <a:bodyPr wrap="square" lIns="0" rIns="0" tIns="0" bIns="0">
            <a:spAutoFit/>
          </a:bodyPr>
          <a:lstStyle/>
          <a:p>
            <a:pPr algn="ctr"/>
            <a:r>
              <a:rPr sz="2200" b="1" i="0">
                <a:solidFill>
                  <a:srgbClr val="2D6CDF"/>
                </a:solidFill>
                <a:latin typeface="Arial"/>
              </a:rPr>
              <a:t>voyage-4</a:t>
            </a:r>
          </a:p>
          <a:p>
            <a:pPr algn="ctr">
              <a:spcBef>
                <a:spcPts val="300"/>
              </a:spcBef>
            </a:pPr>
            <a:r>
              <a:rPr sz="1100" b="0" i="0">
                <a:solidFill>
                  <a:srgbClr val="6B7C8C"/>
                </a:solidFill>
                <a:latin typeface="Arial"/>
              </a:rPr>
              <a:t>1024-d embeddings</a:t>
            </a:r>
          </a:p>
        </p:txBody>
      </p:sp>
      <p:sp>
        <p:nvSpPr>
          <p:cNvPr id="15" name="Rounded Rectangle 14"/>
          <p:cNvSpPr/>
          <p:nvPr/>
        </p:nvSpPr>
        <p:spPr>
          <a:xfrm>
            <a:off x="9544872" y="2103120"/>
            <a:ext cx="2079894" cy="10058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654600" y="2231136"/>
            <a:ext cx="1860438" cy="822960"/>
          </a:xfrm>
          <a:prstGeom prst="rect">
            <a:avLst/>
          </a:prstGeom>
          <a:noFill/>
        </p:spPr>
        <p:txBody>
          <a:bodyPr wrap="square" lIns="0" rIns="0" tIns="0" bIns="0">
            <a:spAutoFit/>
          </a:bodyPr>
          <a:lstStyle/>
          <a:p>
            <a:pPr algn="ctr"/>
            <a:r>
              <a:rPr sz="2200" b="1" i="0">
                <a:solidFill>
                  <a:srgbClr val="2D6CDF"/>
                </a:solidFill>
                <a:latin typeface="Arial"/>
              </a:rPr>
              <a:t>hybrid</a:t>
            </a:r>
          </a:p>
          <a:p>
            <a:pPr algn="ctr">
              <a:spcBef>
                <a:spcPts val="300"/>
              </a:spcBef>
            </a:pPr>
            <a:r>
              <a:rPr sz="1100" b="0" i="0">
                <a:solidFill>
                  <a:srgbClr val="6B7C8C"/>
                </a:solidFill>
                <a:latin typeface="Arial"/>
              </a:rPr>
              <a:t>vector + keyword search</a:t>
            </a:r>
          </a:p>
        </p:txBody>
      </p:sp>
      <p:sp>
        <p:nvSpPr>
          <p:cNvPr id="17" name="Rounded Rectangle 16"/>
          <p:cNvSpPr/>
          <p:nvPr/>
        </p:nvSpPr>
        <p:spPr>
          <a:xfrm>
            <a:off x="566928" y="3429000"/>
            <a:ext cx="5715000" cy="278892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3429000"/>
            <a:ext cx="50292" cy="278892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3547872"/>
            <a:ext cx="5394960" cy="2569464"/>
          </a:xfrm>
          <a:prstGeom prst="rect">
            <a:avLst/>
          </a:prstGeom>
          <a:noFill/>
        </p:spPr>
        <p:txBody>
          <a:bodyPr wrap="square" lIns="0" rIns="0" tIns="0" bIns="0">
            <a:spAutoFit/>
          </a:bodyPr>
          <a:lstStyle/>
          <a:p>
            <a:pPr>
              <a:spcAft>
                <a:spcPts val="600"/>
              </a:spcAft>
            </a:pPr>
            <a:r>
              <a:rPr sz="1350" b="1" i="0">
                <a:solidFill>
                  <a:srgbClr val="0B1F33"/>
                </a:solidFill>
                <a:latin typeface="Arial"/>
              </a:rPr>
              <a:t>The four sources</a:t>
            </a:r>
          </a:p>
          <a:p>
            <a:pPr>
              <a:spcAft>
                <a:spcPts val="400"/>
              </a:spcAft>
            </a:pPr>
            <a:r>
              <a:rPr sz="1300" b="1" i="0">
                <a:solidFill>
                  <a:srgbClr val="0B1F33"/>
                </a:solidFill>
                <a:latin typeface="Arial"/>
              </a:rPr>
              <a:t>Dalberg Profiles</a:t>
            </a:r>
            <a:r>
              <a:rPr sz="1300" b="0" i="0">
                <a:solidFill>
                  <a:srgbClr val="33475C"/>
                </a:solidFill>
                <a:latin typeface="Arial"/>
              </a:rPr>
              <a:t> — employee CVs and bios. The *person* source.</a:t>
            </a:r>
          </a:p>
          <a:p>
            <a:pPr>
              <a:spcAft>
                <a:spcPts val="400"/>
              </a:spcAft>
            </a:pPr>
            <a:r>
              <a:rPr sz="1300" b="1" i="0">
                <a:solidFill>
                  <a:srgbClr val="0B1F33"/>
                </a:solidFill>
                <a:latin typeface="Arial"/>
              </a:rPr>
              <a:t>D.Quals</a:t>
            </a:r>
            <a:r>
              <a:rPr sz="1300" b="0" i="0">
                <a:solidFill>
                  <a:srgbClr val="33475C"/>
                </a:solidFill>
                <a:latin typeface="Arial"/>
              </a:rPr>
              <a:t> — past client project qualifications and credential decks.</a:t>
            </a:r>
          </a:p>
          <a:p>
            <a:pPr>
              <a:spcAft>
                <a:spcPts val="400"/>
              </a:spcAft>
            </a:pPr>
            <a:r>
              <a:rPr sz="1300" b="1" i="0">
                <a:solidFill>
                  <a:srgbClr val="0B1F33"/>
                </a:solidFill>
                <a:latin typeface="Arial"/>
              </a:rPr>
              <a:t>Proposal Library</a:t>
            </a:r>
            <a:r>
              <a:rPr sz="1300" b="0" i="0">
                <a:solidFill>
                  <a:srgbClr val="33475C"/>
                </a:solidFill>
                <a:latin typeface="Arial"/>
              </a:rPr>
              <a:t> — proposals submitted to clients.</a:t>
            </a:r>
          </a:p>
          <a:p>
            <a:pPr>
              <a:spcAft>
                <a:spcPts val="400"/>
              </a:spcAft>
            </a:pPr>
            <a:r>
              <a:rPr sz="1300" b="1" i="0">
                <a:solidFill>
                  <a:srgbClr val="0B1F33"/>
                </a:solidFill>
                <a:latin typeface="Arial"/>
              </a:rPr>
              <a:t>Knowledge Library</a:t>
            </a:r>
            <a:r>
              <a:rPr sz="1300" b="0" i="0">
                <a:solidFill>
                  <a:srgbClr val="33475C"/>
                </a:solidFill>
                <a:latin typeface="Arial"/>
              </a:rPr>
              <a:t> — research, briefs and strategy frameworks.</a:t>
            </a:r>
          </a:p>
        </p:txBody>
      </p:sp>
      <p:sp>
        <p:nvSpPr>
          <p:cNvPr id="20" name="Rounded Rectangle 19"/>
          <p:cNvSpPr/>
          <p:nvPr/>
        </p:nvSpPr>
        <p:spPr>
          <a:xfrm>
            <a:off x="6556248" y="3429000"/>
            <a:ext cx="5056632" cy="278892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56248" y="3429000"/>
            <a:ext cx="50292" cy="278892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739128" y="3547872"/>
            <a:ext cx="4736592" cy="2569464"/>
          </a:xfrm>
          <a:prstGeom prst="rect">
            <a:avLst/>
          </a:prstGeom>
          <a:noFill/>
        </p:spPr>
        <p:txBody>
          <a:bodyPr wrap="square" lIns="0" rIns="0" tIns="0" bIns="0">
            <a:spAutoFit/>
          </a:bodyPr>
          <a:lstStyle/>
          <a:p>
            <a:pPr>
              <a:spcAft>
                <a:spcPts val="600"/>
              </a:spcAft>
            </a:pPr>
            <a:r>
              <a:rPr sz="1350" b="1" i="0">
                <a:solidFill>
                  <a:srgbClr val="0B1F33"/>
                </a:solidFill>
                <a:latin typeface="Arial"/>
              </a:rPr>
              <a:t>Three choices that shape everything</a:t>
            </a:r>
          </a:p>
          <a:p>
            <a:pPr>
              <a:spcAft>
                <a:spcPts val="400"/>
              </a:spcAft>
            </a:pPr>
            <a:r>
              <a:rPr sz="1300" b="1" i="0">
                <a:solidFill>
                  <a:srgbClr val="0B1F33"/>
                </a:solidFill>
                <a:latin typeface="Arial"/>
              </a:rPr>
              <a:t>Config over code</a:t>
            </a:r>
            <a:r>
              <a:rPr sz="1300" b="0" i="0">
                <a:solidFill>
                  <a:srgbClr val="33475C"/>
                </a:solidFill>
                <a:latin typeface="Arial"/>
              </a:rPr>
              <a:t> — adding a source is a YAML change, not a code change.</a:t>
            </a:r>
          </a:p>
          <a:p>
            <a:pPr>
              <a:spcAft>
                <a:spcPts val="400"/>
              </a:spcAft>
            </a:pPr>
            <a:r>
              <a:rPr sz="1300" b="1" i="0">
                <a:solidFill>
                  <a:srgbClr val="0B1F33"/>
                </a:solidFill>
                <a:latin typeface="Arial"/>
              </a:rPr>
              <a:t>One tool set for every source</a:t>
            </a:r>
            <a:r>
              <a:rPr sz="1300" b="0" i="0">
                <a:solidFill>
                  <a:srgbClr val="33475C"/>
                </a:solidFill>
                <a:latin typeface="Arial"/>
              </a:rPr>
              <a:t> — tools take a source name; they are not per-table.</a:t>
            </a:r>
          </a:p>
          <a:p>
            <a:pPr>
              <a:spcAft>
                <a:spcPts val="400"/>
              </a:spcAft>
            </a:pPr>
            <a:r>
              <a:rPr sz="1300" b="1" i="0">
                <a:solidFill>
                  <a:srgbClr val="0B1F33"/>
                </a:solidFill>
                <a:latin typeface="Arial"/>
              </a:rPr>
              <a:t>The server retrieves, Claude writes</a:t>
            </a:r>
            <a:r>
              <a:rPr sz="1300" b="0" i="0">
                <a:solidFill>
                  <a:srgbClr val="33475C"/>
                </a:solidFill>
                <a:latin typeface="Arial"/>
              </a:rPr>
              <a:t> — we return evidence and citations, not prose.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The architecture in one picture</a:t>
            </a:r>
          </a:p>
          <a:p>
            <a:pPr>
              <a:spcBef>
                <a:spcPts val="200"/>
              </a:spcBef>
            </a:pPr>
            <a:r>
              <a:rPr sz="1150" b="0" i="0">
                <a:solidFill>
                  <a:srgbClr val="9FB6CC"/>
                </a:solidFill>
                <a:latin typeface="Arial"/>
              </a:rPr>
              <a:t>Two pipelines. One writes to the store, the other reads from it.</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3</a:t>
            </a:r>
          </a:p>
        </p:txBody>
      </p:sp>
      <p:sp>
        <p:nvSpPr>
          <p:cNvPr id="6" name="TextBox 5"/>
          <p:cNvSpPr txBox="1"/>
          <p:nvPr/>
        </p:nvSpPr>
        <p:spPr>
          <a:xfrm>
            <a:off x="457200" y="1207008"/>
            <a:ext cx="3977639" cy="219456"/>
          </a:xfrm>
          <a:prstGeom prst="rect">
            <a:avLst/>
          </a:prstGeom>
          <a:noFill/>
        </p:spPr>
        <p:txBody>
          <a:bodyPr wrap="square" lIns="0" rIns="0" tIns="0" bIns="0">
            <a:spAutoFit/>
          </a:bodyPr>
          <a:lstStyle/>
          <a:p>
            <a:pPr algn="ctr"/>
            <a:r>
              <a:rPr sz="1000" b="1" i="0">
                <a:solidFill>
                  <a:srgbClr val="D97A1E"/>
                </a:solidFill>
                <a:latin typeface="Arial"/>
              </a:rPr>
              <a:t>WRITE  ·  offline, run on demand</a:t>
            </a:r>
          </a:p>
        </p:txBody>
      </p:sp>
      <p:sp>
        <p:nvSpPr>
          <p:cNvPr id="7" name="TextBox 6"/>
          <p:cNvSpPr txBox="1"/>
          <p:nvPr/>
        </p:nvSpPr>
        <p:spPr>
          <a:xfrm>
            <a:off x="4709160" y="1207008"/>
            <a:ext cx="3977639" cy="219456"/>
          </a:xfrm>
          <a:prstGeom prst="rect">
            <a:avLst/>
          </a:prstGeom>
          <a:noFill/>
        </p:spPr>
        <p:txBody>
          <a:bodyPr wrap="square" lIns="0" rIns="0" tIns="0" bIns="0">
            <a:spAutoFit/>
          </a:bodyPr>
          <a:lstStyle/>
          <a:p>
            <a:pPr algn="ctr"/>
            <a:r>
              <a:rPr sz="1000" b="1" i="0">
                <a:solidFill>
                  <a:srgbClr val="2D6CDF"/>
                </a:solidFill>
                <a:latin typeface="Arial"/>
              </a:rPr>
              <a:t>READ  ·  online, always on</a:t>
            </a:r>
          </a:p>
        </p:txBody>
      </p:sp>
      <p:sp>
        <p:nvSpPr>
          <p:cNvPr id="8" name="Rounded Rectangle 7"/>
          <p:cNvSpPr/>
          <p:nvPr/>
        </p:nvSpPr>
        <p:spPr>
          <a:xfrm>
            <a:off x="457200" y="1481328"/>
            <a:ext cx="3977639" cy="548640"/>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Arial"/>
              </a:rPr>
              <a:t>Airtable</a:t>
            </a:r>
          </a:p>
          <a:p>
            <a:pPr algn="ctr">
              <a:spcBef>
                <a:spcPts val="100"/>
              </a:spcBef>
            </a:pPr>
            <a:r>
              <a:rPr sz="850" b="0" i="0">
                <a:solidFill>
                  <a:srgbClr val="DDE8F5"/>
                </a:solidFill>
                <a:latin typeface="Arial"/>
              </a:rPr>
              <a:t>4 bases — records + attachments</a:t>
            </a:r>
          </a:p>
        </p:txBody>
      </p:sp>
      <p:sp>
        <p:nvSpPr>
          <p:cNvPr id="9" name="Rounded Rectangle 8"/>
          <p:cNvSpPr/>
          <p:nvPr/>
        </p:nvSpPr>
        <p:spPr>
          <a:xfrm>
            <a:off x="4709160" y="1481328"/>
            <a:ext cx="3977639" cy="548640"/>
          </a:xfrm>
          <a:prstGeom prst="roundRect">
            <a:avLst>
              <a:gd name="adj" fmla="val 12000"/>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Arial"/>
              </a:rPr>
              <a:t>Claude.ai</a:t>
            </a:r>
          </a:p>
          <a:p>
            <a:pPr algn="ctr">
              <a:spcBef>
                <a:spcPts val="100"/>
              </a:spcBef>
            </a:pPr>
            <a:r>
              <a:rPr sz="850" b="0" i="0">
                <a:solidFill>
                  <a:srgbClr val="DDE8F5"/>
                </a:solidFill>
                <a:latin typeface="Arial"/>
              </a:rPr>
              <a:t>a person asks a question</a:t>
            </a:r>
          </a:p>
        </p:txBody>
      </p:sp>
      <p:sp>
        <p:nvSpPr>
          <p:cNvPr id="10" name="Down Arrow 9"/>
          <p:cNvSpPr/>
          <p:nvPr/>
        </p:nvSpPr>
        <p:spPr>
          <a:xfrm>
            <a:off x="2345435" y="2103120"/>
            <a:ext cx="201168" cy="219456"/>
          </a:xfrm>
          <a:prstGeom prst="down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6597395" y="2103120"/>
            <a:ext cx="201168" cy="219456"/>
          </a:xfrm>
          <a:prstGeom prst="down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2395728"/>
            <a:ext cx="3977639" cy="2212848"/>
          </a:xfrm>
          <a:prstGeom prst="roundRect">
            <a:avLst>
              <a:gd name="adj" fmla="val 2000"/>
            </a:avLst>
          </a:prstGeom>
          <a:solidFill>
            <a:srgbClr val="FDFAF4"/>
          </a:solidFill>
          <a:ln w="19050">
            <a:solidFill>
              <a:srgbClr val="D97A1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48640" y="2468880"/>
            <a:ext cx="1645920" cy="256032"/>
          </a:xfrm>
          <a:prstGeom prst="roundRect">
            <a:avLst>
              <a:gd name="adj" fmla="val 2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Arial"/>
              </a:rPr>
              <a:t>Ingestion pipeline</a:t>
            </a:r>
          </a:p>
        </p:txBody>
      </p:sp>
      <p:sp>
        <p:nvSpPr>
          <p:cNvPr id="14" name="Rounded Rectangle 13"/>
          <p:cNvSpPr/>
          <p:nvPr/>
        </p:nvSpPr>
        <p:spPr>
          <a:xfrm>
            <a:off x="4709160" y="2395728"/>
            <a:ext cx="3977639" cy="2212848"/>
          </a:xfrm>
          <a:prstGeom prst="roundRect">
            <a:avLst>
              <a:gd name="adj" fmla="val 2000"/>
            </a:avLst>
          </a:prstGeom>
          <a:solidFill>
            <a:srgbClr val="F7FAFD"/>
          </a:solidFill>
          <a:ln w="19050">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800600" y="2468880"/>
            <a:ext cx="1737360" cy="256032"/>
          </a:xfrm>
          <a:prstGeom prst="roundRect">
            <a:avLst>
              <a:gd name="adj" fmla="val 2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Arial"/>
              </a:rPr>
              <a:t>MCP server  ·  EC2</a:t>
            </a:r>
          </a:p>
        </p:txBody>
      </p:sp>
      <p:sp>
        <p:nvSpPr>
          <p:cNvPr id="16" name="Rounded Rectangle 15"/>
          <p:cNvSpPr/>
          <p:nvPr/>
        </p:nvSpPr>
        <p:spPr>
          <a:xfrm>
            <a:off x="585216" y="2724912"/>
            <a:ext cx="3721607" cy="420624"/>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Extract</a:t>
            </a:r>
          </a:p>
          <a:p>
            <a:pPr algn="ctr">
              <a:spcBef>
                <a:spcPts val="100"/>
              </a:spcBef>
            </a:pPr>
            <a:r>
              <a:rPr sz="800" b="0" i="0">
                <a:solidFill>
                  <a:srgbClr val="DDE8F5"/>
                </a:solidFill>
                <a:latin typeface="Arial"/>
              </a:rPr>
              <a:t>decks + PDFs → clean text</a:t>
            </a:r>
          </a:p>
        </p:txBody>
      </p:sp>
      <p:sp>
        <p:nvSpPr>
          <p:cNvPr id="17" name="Rounded Rectangle 16"/>
          <p:cNvSpPr/>
          <p:nvPr/>
        </p:nvSpPr>
        <p:spPr>
          <a:xfrm>
            <a:off x="4837176" y="2724912"/>
            <a:ext cx="3721607" cy="420624"/>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Plan</a:t>
            </a:r>
          </a:p>
          <a:p>
            <a:pPr algn="ctr">
              <a:spcBef>
                <a:spcPts val="100"/>
              </a:spcBef>
            </a:pPr>
            <a:r>
              <a:rPr sz="800" b="0" i="0">
                <a:solidFill>
                  <a:srgbClr val="DDE8F5"/>
                </a:solidFill>
                <a:latin typeface="Arial"/>
              </a:rPr>
              <a:t>which source, which method</a:t>
            </a:r>
          </a:p>
        </p:txBody>
      </p:sp>
      <p:sp>
        <p:nvSpPr>
          <p:cNvPr id="18" name="Rounded Rectangle 17"/>
          <p:cNvSpPr/>
          <p:nvPr/>
        </p:nvSpPr>
        <p:spPr>
          <a:xfrm>
            <a:off x="585216" y="3191256"/>
            <a:ext cx="3721607" cy="420624"/>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Chunk</a:t>
            </a:r>
          </a:p>
          <a:p>
            <a:pPr algn="ctr">
              <a:spcBef>
                <a:spcPts val="100"/>
              </a:spcBef>
            </a:pPr>
            <a:r>
              <a:rPr sz="800" b="0" i="0">
                <a:solidFill>
                  <a:srgbClr val="DDE8F5"/>
                </a:solidFill>
                <a:latin typeface="Arial"/>
              </a:rPr>
              <a:t>slide / section + smaller blocks</a:t>
            </a:r>
          </a:p>
        </p:txBody>
      </p:sp>
      <p:sp>
        <p:nvSpPr>
          <p:cNvPr id="19" name="Rounded Rectangle 18"/>
          <p:cNvSpPr/>
          <p:nvPr/>
        </p:nvSpPr>
        <p:spPr>
          <a:xfrm>
            <a:off x="4837176" y="3191256"/>
            <a:ext cx="3721607" cy="420624"/>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Search</a:t>
            </a:r>
          </a:p>
          <a:p>
            <a:pPr algn="ctr">
              <a:spcBef>
                <a:spcPts val="100"/>
              </a:spcBef>
            </a:pPr>
            <a:r>
              <a:rPr sz="800" b="0" i="0">
                <a:solidFill>
                  <a:srgbClr val="DDE8F5"/>
                </a:solidFill>
                <a:latin typeface="Arial"/>
              </a:rPr>
              <a:t>vectors + keywords together</a:t>
            </a:r>
          </a:p>
        </p:txBody>
      </p:sp>
      <p:sp>
        <p:nvSpPr>
          <p:cNvPr id="20" name="Rounded Rectangle 19"/>
          <p:cNvSpPr/>
          <p:nvPr/>
        </p:nvSpPr>
        <p:spPr>
          <a:xfrm>
            <a:off x="585216" y="3657600"/>
            <a:ext cx="3721607" cy="420624"/>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Embed</a:t>
            </a:r>
          </a:p>
          <a:p>
            <a:pPr algn="ctr">
              <a:spcBef>
                <a:spcPts val="100"/>
              </a:spcBef>
            </a:pPr>
            <a:r>
              <a:rPr sz="800" b="0" i="0">
                <a:solidFill>
                  <a:srgbClr val="DDE8F5"/>
                </a:solidFill>
                <a:latin typeface="Arial"/>
              </a:rPr>
              <a:t>voyage-4 → 1024-d vectors</a:t>
            </a:r>
          </a:p>
        </p:txBody>
      </p:sp>
      <p:sp>
        <p:nvSpPr>
          <p:cNvPr id="21" name="Rounded Rectangle 20"/>
          <p:cNvSpPr/>
          <p:nvPr/>
        </p:nvSpPr>
        <p:spPr>
          <a:xfrm>
            <a:off x="4837176" y="3657600"/>
            <a:ext cx="3721607" cy="420624"/>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Rerank</a:t>
            </a:r>
          </a:p>
          <a:p>
            <a:pPr algn="ctr">
              <a:spcBef>
                <a:spcPts val="100"/>
              </a:spcBef>
            </a:pPr>
            <a:r>
              <a:rPr sz="800" b="0" i="0">
                <a:solidFill>
                  <a:srgbClr val="DDE8F5"/>
                </a:solidFill>
                <a:latin typeface="Arial"/>
              </a:rPr>
              <a:t>put the best answer on top</a:t>
            </a:r>
          </a:p>
        </p:txBody>
      </p:sp>
      <p:sp>
        <p:nvSpPr>
          <p:cNvPr id="22" name="Rounded Rectangle 21"/>
          <p:cNvSpPr/>
          <p:nvPr/>
        </p:nvSpPr>
        <p:spPr>
          <a:xfrm>
            <a:off x="585216" y="4123944"/>
            <a:ext cx="3721607" cy="420624"/>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Index</a:t>
            </a:r>
          </a:p>
          <a:p>
            <a:pPr algn="ctr">
              <a:spcBef>
                <a:spcPts val="100"/>
              </a:spcBef>
            </a:pPr>
            <a:r>
              <a:rPr sz="800" b="0" i="0">
                <a:solidFill>
                  <a:srgbClr val="DDE8F5"/>
                </a:solidFill>
                <a:latin typeface="Arial"/>
              </a:rPr>
              <a:t>write to OpenSearch</a:t>
            </a:r>
          </a:p>
        </p:txBody>
      </p:sp>
      <p:sp>
        <p:nvSpPr>
          <p:cNvPr id="23" name="Rounded Rectangle 22"/>
          <p:cNvSpPr/>
          <p:nvPr/>
        </p:nvSpPr>
        <p:spPr>
          <a:xfrm>
            <a:off x="4837176" y="4123944"/>
            <a:ext cx="3721607" cy="420624"/>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i="0">
                <a:solidFill>
                  <a:srgbClr val="FFFFFF"/>
                </a:solidFill>
                <a:latin typeface="Arial"/>
              </a:rPr>
              <a:t>Cite</a:t>
            </a:r>
          </a:p>
          <a:p>
            <a:pPr algn="ctr">
              <a:spcBef>
                <a:spcPts val="100"/>
              </a:spcBef>
            </a:pPr>
            <a:r>
              <a:rPr sz="800" b="0" i="0">
                <a:solidFill>
                  <a:srgbClr val="DDE8F5"/>
                </a:solidFill>
                <a:latin typeface="Arial"/>
              </a:rPr>
              <a:t>link every hit to its document</a:t>
            </a:r>
          </a:p>
        </p:txBody>
      </p:sp>
      <p:sp>
        <p:nvSpPr>
          <p:cNvPr id="24" name="Down Arrow 23"/>
          <p:cNvSpPr/>
          <p:nvPr/>
        </p:nvSpPr>
        <p:spPr>
          <a:xfrm>
            <a:off x="2345435" y="4681728"/>
            <a:ext cx="201168" cy="219456"/>
          </a:xfrm>
          <a:prstGeom prst="down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wn Arrow 24"/>
          <p:cNvSpPr/>
          <p:nvPr/>
        </p:nvSpPr>
        <p:spPr>
          <a:xfrm>
            <a:off x="6597395" y="4681728"/>
            <a:ext cx="201168" cy="219456"/>
          </a:xfrm>
          <a:prstGeom prst="down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700016"/>
            <a:ext cx="1810512" cy="219456"/>
          </a:xfrm>
          <a:prstGeom prst="rect">
            <a:avLst/>
          </a:prstGeom>
          <a:noFill/>
        </p:spPr>
        <p:txBody>
          <a:bodyPr wrap="square" lIns="0" rIns="0" tIns="0" bIns="0">
            <a:spAutoFit/>
          </a:bodyPr>
          <a:lstStyle/>
          <a:p>
            <a:pPr algn="r"/>
            <a:r>
              <a:rPr sz="950" b="0" i="0">
                <a:solidFill>
                  <a:srgbClr val="D97A1E"/>
                </a:solidFill>
                <a:latin typeface="Arial"/>
              </a:rPr>
              <a:t>writes</a:t>
            </a:r>
          </a:p>
        </p:txBody>
      </p:sp>
      <p:sp>
        <p:nvSpPr>
          <p:cNvPr id="27" name="TextBox 26"/>
          <p:cNvSpPr txBox="1"/>
          <p:nvPr/>
        </p:nvSpPr>
        <p:spPr>
          <a:xfrm>
            <a:off x="6876288" y="4700016"/>
            <a:ext cx="1810512" cy="219456"/>
          </a:xfrm>
          <a:prstGeom prst="rect">
            <a:avLst/>
          </a:prstGeom>
          <a:noFill/>
        </p:spPr>
        <p:txBody>
          <a:bodyPr wrap="square" lIns="0" rIns="0" tIns="0" bIns="0">
            <a:spAutoFit/>
          </a:bodyPr>
          <a:lstStyle/>
          <a:p>
            <a:pPr algn="l"/>
            <a:r>
              <a:rPr sz="950" b="0" i="0">
                <a:solidFill>
                  <a:srgbClr val="2D6CDF"/>
                </a:solidFill>
                <a:latin typeface="Arial"/>
              </a:rPr>
              <a:t>queries — never writes</a:t>
            </a:r>
          </a:p>
        </p:txBody>
      </p:sp>
      <p:sp>
        <p:nvSpPr>
          <p:cNvPr id="28" name="Rounded Rectangle 27"/>
          <p:cNvSpPr/>
          <p:nvPr/>
        </p:nvSpPr>
        <p:spPr>
          <a:xfrm>
            <a:off x="457200" y="4974336"/>
            <a:ext cx="8229600" cy="1170432"/>
          </a:xfrm>
          <a:prstGeom prst="roundRect">
            <a:avLst>
              <a:gd name="adj" fmla="val 2000"/>
            </a:avLst>
          </a:prstGeom>
          <a:solidFill>
            <a:srgbClr val="F5FBFA"/>
          </a:solidFill>
          <a:ln w="19050">
            <a:solidFill>
              <a:srgbClr val="0E9F9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548640" y="5047488"/>
            <a:ext cx="1554480" cy="256032"/>
          </a:xfrm>
          <a:prstGeom prst="roundRect">
            <a:avLst>
              <a:gd name="adj" fmla="val 2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Arial"/>
              </a:rPr>
              <a:t>Storage  ·  AWS</a:t>
            </a:r>
          </a:p>
        </p:txBody>
      </p:sp>
      <p:sp>
        <p:nvSpPr>
          <p:cNvPr id="30" name="Rounded Rectangle 29"/>
          <p:cNvSpPr/>
          <p:nvPr/>
        </p:nvSpPr>
        <p:spPr>
          <a:xfrm>
            <a:off x="603504" y="5358384"/>
            <a:ext cx="3931920" cy="621792"/>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S3</a:t>
            </a:r>
          </a:p>
          <a:p>
            <a:pPr algn="ctr">
              <a:spcBef>
                <a:spcPts val="100"/>
              </a:spcBef>
            </a:pPr>
            <a:r>
              <a:rPr sz="850" b="0" i="0">
                <a:solidFill>
                  <a:srgbClr val="DDE8F5"/>
                </a:solidFill>
                <a:latin typeface="Arial"/>
              </a:rPr>
              <a:t>original documents + extracted text</a:t>
            </a:r>
          </a:p>
        </p:txBody>
      </p:sp>
      <p:sp>
        <p:nvSpPr>
          <p:cNvPr id="31" name="Rounded Rectangle 30"/>
          <p:cNvSpPr/>
          <p:nvPr/>
        </p:nvSpPr>
        <p:spPr>
          <a:xfrm>
            <a:off x="4626863" y="5358384"/>
            <a:ext cx="3913632" cy="621792"/>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OpenSearch</a:t>
            </a:r>
          </a:p>
          <a:p>
            <a:pPr algn="ctr">
              <a:spcBef>
                <a:spcPts val="100"/>
              </a:spcBef>
            </a:pPr>
            <a:r>
              <a:rPr sz="850" b="0" i="0">
                <a:solidFill>
                  <a:srgbClr val="DDE8F5"/>
                </a:solidFill>
                <a:latin typeface="Arial"/>
              </a:rPr>
              <a:t>4 indexes — vectors + searchable text</a:t>
            </a:r>
          </a:p>
        </p:txBody>
      </p:sp>
      <p:sp>
        <p:nvSpPr>
          <p:cNvPr id="32" name="Rounded Rectangle 31"/>
          <p:cNvSpPr/>
          <p:nvPr/>
        </p:nvSpPr>
        <p:spPr>
          <a:xfrm>
            <a:off x="8915400" y="1481328"/>
            <a:ext cx="2816352" cy="23774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915400" y="1481328"/>
            <a:ext cx="50292" cy="2377440"/>
          </a:xfrm>
          <a:prstGeom prst="rect">
            <a:avLst/>
          </a:prstGeom>
          <a:solidFill>
            <a:srgbClr val="E88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098280" y="1600200"/>
            <a:ext cx="2496312" cy="2157984"/>
          </a:xfrm>
          <a:prstGeom prst="rect">
            <a:avLst/>
          </a:prstGeom>
          <a:noFill/>
        </p:spPr>
        <p:txBody>
          <a:bodyPr wrap="square" lIns="0" rIns="0" tIns="0" bIns="0">
            <a:spAutoFit/>
          </a:bodyPr>
          <a:lstStyle/>
          <a:p>
            <a:pPr>
              <a:spcAft>
                <a:spcPts val="600"/>
              </a:spcAft>
            </a:pPr>
            <a:r>
              <a:rPr sz="1200" b="1" i="0">
                <a:solidFill>
                  <a:srgbClr val="0B1F33"/>
                </a:solidFill>
                <a:latin typeface="Arial"/>
              </a:rPr>
              <a:t>AWS · eu-west-1</a:t>
            </a:r>
          </a:p>
          <a:p>
            <a:pPr>
              <a:spcAft>
                <a:spcPts val="400"/>
              </a:spcAft>
            </a:pPr>
            <a:r>
              <a:rPr sz="1050" b="1" i="0">
                <a:solidFill>
                  <a:srgbClr val="0B1F33"/>
                </a:solidFill>
                <a:latin typeface="Arial"/>
              </a:rPr>
              <a:t>ALB</a:t>
            </a:r>
            <a:r>
              <a:rPr sz="1050" b="0" i="0">
                <a:solidFill>
                  <a:srgbClr val="33475C"/>
                </a:solidFill>
                <a:latin typeface="Arial"/>
              </a:rPr>
              <a:t> — HTTPS, </a:t>
            </a:r>
            <a:r>
              <a:rPr sz="990" b="0" i="0">
                <a:solidFill>
                  <a:srgbClr val="2D6CDF"/>
                </a:solidFill>
                <a:latin typeface="Consolas"/>
              </a:rPr>
              <a:t>mcp.dev.dalberg.com</a:t>
            </a:r>
          </a:p>
          <a:p>
            <a:pPr>
              <a:spcAft>
                <a:spcPts val="400"/>
              </a:spcAft>
            </a:pPr>
            <a:r>
              <a:rPr sz="1050" b="1" i="0">
                <a:solidFill>
                  <a:srgbClr val="0B1F33"/>
                </a:solidFill>
                <a:latin typeface="Arial"/>
              </a:rPr>
              <a:t>EC2</a:t>
            </a:r>
            <a:r>
              <a:rPr sz="1050" b="0" i="0">
                <a:solidFill>
                  <a:srgbClr val="33475C"/>
                </a:solidFill>
                <a:latin typeface="Arial"/>
              </a:rPr>
              <a:t> — Docker: api + pipeline</a:t>
            </a:r>
          </a:p>
          <a:p>
            <a:pPr>
              <a:spcAft>
                <a:spcPts val="400"/>
              </a:spcAft>
            </a:pPr>
            <a:r>
              <a:rPr sz="1050" b="1" i="0">
                <a:solidFill>
                  <a:srgbClr val="0B1F33"/>
                </a:solidFill>
                <a:latin typeface="Arial"/>
              </a:rPr>
              <a:t>S3</a:t>
            </a:r>
            <a:r>
              <a:rPr sz="1050" b="0" i="0">
                <a:solidFill>
                  <a:srgbClr val="33475C"/>
                </a:solidFill>
                <a:latin typeface="Arial"/>
              </a:rPr>
              <a:t> — documents + OAuth state</a:t>
            </a:r>
          </a:p>
          <a:p>
            <a:pPr>
              <a:spcAft>
                <a:spcPts val="400"/>
              </a:spcAft>
            </a:pPr>
            <a:r>
              <a:rPr sz="1050" b="1" i="0">
                <a:solidFill>
                  <a:srgbClr val="0B1F33"/>
                </a:solidFill>
                <a:latin typeface="Arial"/>
              </a:rPr>
              <a:t>OpenSearch</a:t>
            </a:r>
            <a:r>
              <a:rPr sz="1050" b="0" i="0">
                <a:solidFill>
                  <a:srgbClr val="33475C"/>
                </a:solidFill>
                <a:latin typeface="Arial"/>
              </a:rPr>
              <a:t> — the search index</a:t>
            </a:r>
          </a:p>
          <a:p>
            <a:pPr>
              <a:spcAft>
                <a:spcPts val="400"/>
              </a:spcAft>
            </a:pPr>
            <a:r>
              <a:rPr sz="1050" b="1" i="0">
                <a:solidFill>
                  <a:srgbClr val="0B1F33"/>
                </a:solidFill>
                <a:latin typeface="Arial"/>
              </a:rPr>
              <a:t>RDS</a:t>
            </a:r>
            <a:r>
              <a:rPr sz="1050" b="0" i="0">
                <a:solidFill>
                  <a:srgbClr val="33475C"/>
                </a:solidFill>
                <a:latin typeface="Arial"/>
              </a:rPr>
              <a:t> — run log (being retired)</a:t>
            </a:r>
          </a:p>
          <a:p>
            <a:pPr>
              <a:spcAft>
                <a:spcPts val="400"/>
              </a:spcAft>
            </a:pPr>
            <a:r>
              <a:rPr sz="1050" b="1" i="0">
                <a:solidFill>
                  <a:srgbClr val="0B1F33"/>
                </a:solidFill>
                <a:latin typeface="Arial"/>
              </a:rPr>
              <a:t>SQS</a:t>
            </a:r>
            <a:r>
              <a:rPr sz="1050" b="0" i="0">
                <a:solidFill>
                  <a:srgbClr val="33475C"/>
                </a:solidFill>
                <a:latin typeface="Arial"/>
              </a:rPr>
              <a:t> — event-driven re-ingestion</a:t>
            </a:r>
          </a:p>
        </p:txBody>
      </p:sp>
      <p:sp>
        <p:nvSpPr>
          <p:cNvPr id="35" name="Rounded Rectangle 34"/>
          <p:cNvSpPr/>
          <p:nvPr/>
        </p:nvSpPr>
        <p:spPr>
          <a:xfrm>
            <a:off x="8915400" y="3968496"/>
            <a:ext cx="2816352" cy="2176272"/>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8915400" y="3968496"/>
            <a:ext cx="50292" cy="2176272"/>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098280" y="4087368"/>
            <a:ext cx="2496312" cy="1956816"/>
          </a:xfrm>
          <a:prstGeom prst="rect">
            <a:avLst/>
          </a:prstGeom>
          <a:noFill/>
        </p:spPr>
        <p:txBody>
          <a:bodyPr wrap="square" lIns="0" rIns="0" tIns="0" bIns="0">
            <a:spAutoFit/>
          </a:bodyPr>
          <a:lstStyle/>
          <a:p>
            <a:pPr>
              <a:spcAft>
                <a:spcPts val="600"/>
              </a:spcAft>
            </a:pPr>
            <a:r>
              <a:rPr sz="1200" b="1" i="0">
                <a:solidFill>
                  <a:srgbClr val="0B1F33"/>
                </a:solidFill>
                <a:latin typeface="Arial"/>
              </a:rPr>
              <a:t>Outside AWS</a:t>
            </a:r>
          </a:p>
          <a:p>
            <a:pPr>
              <a:spcAft>
                <a:spcPts val="400"/>
              </a:spcAft>
            </a:pPr>
            <a:r>
              <a:rPr sz="1050" b="1" i="0">
                <a:solidFill>
                  <a:srgbClr val="0B1F33"/>
                </a:solidFill>
                <a:latin typeface="Arial"/>
              </a:rPr>
              <a:t>Airtable</a:t>
            </a:r>
            <a:r>
              <a:rPr sz="1050" b="0" i="0">
                <a:solidFill>
                  <a:srgbClr val="33475C"/>
                </a:solidFill>
                <a:latin typeface="Arial"/>
              </a:rPr>
              <a:t> — system of record</a:t>
            </a:r>
          </a:p>
          <a:p>
            <a:pPr>
              <a:spcAft>
                <a:spcPts val="400"/>
              </a:spcAft>
            </a:pPr>
            <a:r>
              <a:rPr sz="1050" b="1" i="0">
                <a:solidFill>
                  <a:srgbClr val="0B1F33"/>
                </a:solidFill>
                <a:latin typeface="Arial"/>
              </a:rPr>
              <a:t>Anthropic</a:t>
            </a:r>
            <a:r>
              <a:rPr sz="1050" b="0" i="0">
                <a:solidFill>
                  <a:srgbClr val="33475C"/>
                </a:solidFill>
                <a:latin typeface="Arial"/>
              </a:rPr>
              <a:t> — extraction + planning</a:t>
            </a:r>
          </a:p>
          <a:p>
            <a:pPr>
              <a:spcAft>
                <a:spcPts val="400"/>
              </a:spcAft>
            </a:pPr>
            <a:r>
              <a:rPr sz="1050" b="1" i="0">
                <a:solidFill>
                  <a:srgbClr val="0B1F33"/>
                </a:solidFill>
                <a:latin typeface="Arial"/>
              </a:rPr>
              <a:t>Voyage AI</a:t>
            </a:r>
            <a:r>
              <a:rPr sz="1050" b="0" i="0">
                <a:solidFill>
                  <a:srgbClr val="33475C"/>
                </a:solidFill>
                <a:latin typeface="Arial"/>
              </a:rPr>
              <a:t> — embeddings + rerank</a:t>
            </a:r>
          </a:p>
          <a:p>
            <a:pPr>
              <a:spcAft>
                <a:spcPts val="400"/>
              </a:spcAft>
            </a:pPr>
            <a:r>
              <a:rPr sz="1050" b="1" i="0">
                <a:solidFill>
                  <a:srgbClr val="0B1F33"/>
                </a:solidFill>
                <a:latin typeface="Arial"/>
              </a:rPr>
              <a:t>Microsoft Entra ID</a:t>
            </a:r>
            <a:r>
              <a:rPr sz="1050" b="0" i="0">
                <a:solidFill>
                  <a:srgbClr val="33475C"/>
                </a:solidFill>
                <a:latin typeface="Arial"/>
              </a:rPr>
              <a:t> — sign-in</a:t>
            </a:r>
          </a:p>
          <a:p>
            <a:pPr>
              <a:spcAft>
                <a:spcPts val="400"/>
              </a:spcAft>
            </a:pPr>
            <a:r>
              <a:rPr sz="1050" b="1" i="0">
                <a:solidFill>
                  <a:srgbClr val="0B1F33"/>
                </a:solidFill>
                <a:latin typeface="Arial"/>
              </a:rPr>
              <a:t>Claude.ai</a:t>
            </a:r>
            <a:r>
              <a:rPr sz="1050" b="0" i="0">
                <a:solidFill>
                  <a:srgbClr val="33475C"/>
                </a:solidFill>
                <a:latin typeface="Arial"/>
              </a:rPr>
              <a:t> — the client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Step-wise data flow</a:t>
            </a:r>
          </a:p>
          <a:p>
            <a:pPr>
              <a:spcBef>
                <a:spcPts val="200"/>
              </a:spcBef>
            </a:pPr>
            <a:r>
              <a:rPr sz="1150" b="0" i="0">
                <a:solidFill>
                  <a:srgbClr val="9FB6CC"/>
                </a:solidFill>
                <a:latin typeface="Arial"/>
              </a:rPr>
              <a:t>From an Airtable attachment to a cited answer</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4</a:t>
            </a:r>
          </a:p>
        </p:txBody>
      </p:sp>
      <p:graphicFrame>
        <p:nvGraphicFramePr>
          <p:cNvPr id="6" name="Table 5"/>
          <p:cNvGraphicFramePr>
            <a:graphicFrameLocks noGrp="1"/>
          </p:cNvGraphicFramePr>
          <p:nvPr/>
        </p:nvGraphicFramePr>
        <p:xfrm>
          <a:off x="566928" y="1207008"/>
          <a:ext cx="11057838" cy="4553712"/>
        </p:xfrm>
        <a:graphic>
          <a:graphicData uri="http://schemas.openxmlformats.org/drawingml/2006/table">
            <a:tbl>
              <a:tblPr firstRow="1">
                <a:tableStyleId>{5C22544A-7EE6-4342-B048-85BDC9FD1C3A}</a:tableStyleId>
              </a:tblPr>
              <a:tblGrid>
                <a:gridCol w="387024"/>
                <a:gridCol w="1437519"/>
                <a:gridCol w="9233295"/>
              </a:tblGrid>
              <a:tr h="347472">
                <a:tc>
                  <a:txBody>
                    <a:bodyPr/>
                    <a:lstStyle/>
                    <a:p>
                      <a:r>
                        <a:rPr sz="1200" b="1" i="0">
                          <a:solidFill>
                            <a:srgbClr val="FFFFFF"/>
                          </a:solidFill>
                          <a:latin typeface="Arial"/>
                        </a:rPr>
                        <a:t>#</a:t>
                      </a:r>
                    </a:p>
                  </a:txBody>
                  <a:tcPr marL="82296" marR="54864" marT="27432" marB="27432" anchor="ctr">
                    <a:solidFill>
                      <a:srgbClr val="0B1F33"/>
                    </a:solidFill>
                  </a:tcPr>
                </a:tc>
                <a:tc>
                  <a:txBody>
                    <a:bodyPr/>
                    <a:lstStyle/>
                    <a:p>
                      <a:r>
                        <a:rPr sz="1200" b="1" i="0">
                          <a:solidFill>
                            <a:srgbClr val="FFFFFF"/>
                          </a:solidFill>
                          <a:latin typeface="Arial"/>
                        </a:rPr>
                        <a:t>Step</a:t>
                      </a:r>
                    </a:p>
                  </a:txBody>
                  <a:tcPr marL="82296" marR="54864" marT="27432" marB="27432" anchor="ctr">
                    <a:solidFill>
                      <a:srgbClr val="0B1F33"/>
                    </a:solidFill>
                  </a:tcPr>
                </a:tc>
                <a:tc>
                  <a:txBody>
                    <a:bodyPr/>
                    <a:lstStyle/>
                    <a:p>
                      <a:r>
                        <a:rPr sz="1200" b="1" i="0">
                          <a:solidFill>
                            <a:srgbClr val="FFFFFF"/>
                          </a:solidFill>
                          <a:latin typeface="Arial"/>
                        </a:rPr>
                        <a:t>What happens</a:t>
                      </a:r>
                    </a:p>
                  </a:txBody>
                  <a:tcPr marL="82296" marR="54864" marT="27432" marB="27432" anchor="ctr">
                    <a:solidFill>
                      <a:srgbClr val="0B1F33"/>
                    </a:solidFill>
                  </a:tcPr>
                </a:tc>
              </a:tr>
              <a:tr h="420624">
                <a:tc>
                  <a:txBody>
                    <a:bodyPr/>
                    <a:lstStyle/>
                    <a:p>
                      <a:r>
                        <a:rPr sz="1200" b="0" i="0">
                          <a:solidFill>
                            <a:srgbClr val="33475C"/>
                          </a:solidFill>
                          <a:latin typeface="Arial"/>
                        </a:rPr>
                        <a:t>1</a:t>
                      </a:r>
                    </a:p>
                  </a:txBody>
                  <a:tcPr marL="82296" marR="54864" marT="18288" marB="18288" anchor="ctr">
                    <a:solidFill>
                      <a:srgbClr val="F4F7FA"/>
                    </a:solidFill>
                  </a:tcPr>
                </a:tc>
                <a:tc>
                  <a:txBody>
                    <a:bodyPr/>
                    <a:lstStyle/>
                    <a:p>
                      <a:r>
                        <a:rPr sz="1200" b="1" i="0">
                          <a:solidFill>
                            <a:srgbClr val="0B1F33"/>
                          </a:solidFill>
                          <a:latin typeface="Arial"/>
                        </a:rPr>
                        <a:t>Sync</a:t>
                      </a:r>
                    </a:p>
                  </a:txBody>
                  <a:tcPr marL="82296" marR="54864" marT="18288" marB="18288" anchor="ctr">
                    <a:solidFill>
                      <a:srgbClr val="F4F7FA"/>
                    </a:solidFill>
                  </a:tcPr>
                </a:tc>
                <a:tc>
                  <a:txBody>
                    <a:bodyPr/>
                    <a:lstStyle/>
                    <a:p>
                      <a:r>
                        <a:rPr sz="1200" b="0" i="0">
                          <a:solidFill>
                            <a:srgbClr val="33475C"/>
                          </a:solidFill>
                          <a:latin typeface="Arial"/>
                        </a:rPr>
                        <a:t>Airtable records are paged; attachments downloaded; structured fields captured as filterable facets</a:t>
                      </a:r>
                    </a:p>
                  </a:txBody>
                  <a:tcPr marL="82296" marR="54864" marT="18288" marB="18288" anchor="ctr">
                    <a:solidFill>
                      <a:srgbClr val="F4F7FA"/>
                    </a:solidFill>
                  </a:tcPr>
                </a:tc>
              </a:tr>
              <a:tr h="420624">
                <a:tc>
                  <a:txBody>
                    <a:bodyPr/>
                    <a:lstStyle/>
                    <a:p>
                      <a:r>
                        <a:rPr sz="1200" b="0" i="0">
                          <a:solidFill>
                            <a:srgbClr val="33475C"/>
                          </a:solidFill>
                          <a:latin typeface="Arial"/>
                        </a:rPr>
                        <a:t>2</a:t>
                      </a:r>
                    </a:p>
                  </a:txBody>
                  <a:tcPr marL="82296" marR="54864" marT="18288" marB="18288" anchor="ctr">
                    <a:solidFill>
                      <a:srgbClr val="FFFFFF"/>
                    </a:solidFill>
                  </a:tcPr>
                </a:tc>
                <a:tc>
                  <a:txBody>
                    <a:bodyPr/>
                    <a:lstStyle/>
                    <a:p>
                      <a:r>
                        <a:rPr sz="1200" b="1" i="0">
                          <a:solidFill>
                            <a:srgbClr val="0B1F33"/>
                          </a:solidFill>
                          <a:latin typeface="Arial"/>
                        </a:rPr>
                        <a:t>Extract</a:t>
                      </a:r>
                    </a:p>
                  </a:txBody>
                  <a:tcPr marL="82296" marR="54864" marT="18288" marB="18288" anchor="ctr">
                    <a:solidFill>
                      <a:srgbClr val="FFFFFF"/>
                    </a:solidFill>
                  </a:tcPr>
                </a:tc>
                <a:tc>
                  <a:txBody>
                    <a:bodyPr/>
                    <a:lstStyle/>
                    <a:p>
                      <a:r>
                        <a:rPr sz="1200" b="0" i="0">
                          <a:solidFill>
                            <a:srgbClr val="33475C"/>
                          </a:solidFill>
                          <a:latin typeface="Arial"/>
                        </a:rPr>
                        <a:t>PPTX / PDF decks are turned into clean, slide-by-slide text — a parser does the reading, Claude fills the visual gaps</a:t>
                      </a:r>
                    </a:p>
                  </a:txBody>
                  <a:tcPr marL="82296" marR="54864" marT="18288" marB="18288" anchor="ctr">
                    <a:solidFill>
                      <a:srgbClr val="FFFFFF"/>
                    </a:solidFill>
                  </a:tcPr>
                </a:tc>
              </a:tr>
              <a:tr h="420624">
                <a:tc>
                  <a:txBody>
                    <a:bodyPr/>
                    <a:lstStyle/>
                    <a:p>
                      <a:r>
                        <a:rPr sz="1200" b="0" i="0">
                          <a:solidFill>
                            <a:srgbClr val="33475C"/>
                          </a:solidFill>
                          <a:latin typeface="Arial"/>
                        </a:rPr>
                        <a:t>3</a:t>
                      </a:r>
                    </a:p>
                  </a:txBody>
                  <a:tcPr marL="82296" marR="54864" marT="18288" marB="18288" anchor="ctr">
                    <a:solidFill>
                      <a:srgbClr val="F4F7FA"/>
                    </a:solidFill>
                  </a:tcPr>
                </a:tc>
                <a:tc>
                  <a:txBody>
                    <a:bodyPr/>
                    <a:lstStyle/>
                    <a:p>
                      <a:r>
                        <a:rPr sz="1200" b="1" i="0">
                          <a:solidFill>
                            <a:srgbClr val="0B1F33"/>
                          </a:solidFill>
                          <a:latin typeface="Arial"/>
                        </a:rPr>
                        <a:t>Summarise</a:t>
                      </a:r>
                    </a:p>
                  </a:txBody>
                  <a:tcPr marL="82296" marR="54864" marT="18288" marB="18288" anchor="ctr">
                    <a:solidFill>
                      <a:srgbClr val="F4F7FA"/>
                    </a:solidFill>
                  </a:tcPr>
                </a:tc>
                <a:tc>
                  <a:txBody>
                    <a:bodyPr/>
                    <a:lstStyle/>
                    <a:p>
                      <a:r>
                        <a:rPr sz="1200" b="0" i="0">
                          <a:solidFill>
                            <a:srgbClr val="33475C"/>
                          </a:solidFill>
                          <a:latin typeface="Arial"/>
                        </a:rPr>
                        <a:t>One summary per document, one per project record — later used as context around a match</a:t>
                      </a:r>
                    </a:p>
                  </a:txBody>
                  <a:tcPr marL="82296" marR="54864" marT="18288" marB="18288" anchor="ctr">
                    <a:solidFill>
                      <a:srgbClr val="F4F7FA"/>
                    </a:solidFill>
                  </a:tcPr>
                </a:tc>
              </a:tr>
              <a:tr h="420624">
                <a:tc>
                  <a:txBody>
                    <a:bodyPr/>
                    <a:lstStyle/>
                    <a:p>
                      <a:r>
                        <a:rPr sz="1200" b="0" i="0">
                          <a:solidFill>
                            <a:srgbClr val="33475C"/>
                          </a:solidFill>
                          <a:latin typeface="Arial"/>
                        </a:rPr>
                        <a:t>4</a:t>
                      </a:r>
                    </a:p>
                  </a:txBody>
                  <a:tcPr marL="82296" marR="54864" marT="18288" marB="18288" anchor="ctr">
                    <a:solidFill>
                      <a:srgbClr val="FFFFFF"/>
                    </a:solidFill>
                  </a:tcPr>
                </a:tc>
                <a:tc>
                  <a:txBody>
                    <a:bodyPr/>
                    <a:lstStyle/>
                    <a:p>
                      <a:r>
                        <a:rPr sz="1200" b="1" i="0">
                          <a:solidFill>
                            <a:srgbClr val="0B1F33"/>
                          </a:solidFill>
                          <a:latin typeface="Arial"/>
                        </a:rPr>
                        <a:t>Store</a:t>
                      </a:r>
                    </a:p>
                  </a:txBody>
                  <a:tcPr marL="82296" marR="54864" marT="18288" marB="18288" anchor="ctr">
                    <a:solidFill>
                      <a:srgbClr val="FFFFFF"/>
                    </a:solidFill>
                  </a:tcPr>
                </a:tc>
                <a:tc>
                  <a:txBody>
                    <a:bodyPr/>
                    <a:lstStyle/>
                    <a:p>
                      <a:r>
                        <a:rPr sz="1200" b="0" i="0">
                          <a:solidFill>
                            <a:srgbClr val="33475C"/>
                          </a:solidFill>
                          <a:latin typeface="Arial"/>
                        </a:rPr>
                        <a:t>Original file + extracted text + summaries land in S3 under a predictable key</a:t>
                      </a:r>
                    </a:p>
                  </a:txBody>
                  <a:tcPr marL="82296" marR="54864" marT="18288" marB="18288" anchor="ctr">
                    <a:solidFill>
                      <a:srgbClr val="FFFFFF"/>
                    </a:solidFill>
                  </a:tcPr>
                </a:tc>
              </a:tr>
              <a:tr h="420624">
                <a:tc>
                  <a:txBody>
                    <a:bodyPr/>
                    <a:lstStyle/>
                    <a:p>
                      <a:r>
                        <a:rPr sz="1200" b="0" i="0">
                          <a:solidFill>
                            <a:srgbClr val="33475C"/>
                          </a:solidFill>
                          <a:latin typeface="Arial"/>
                        </a:rPr>
                        <a:t>5</a:t>
                      </a:r>
                    </a:p>
                  </a:txBody>
                  <a:tcPr marL="82296" marR="54864" marT="18288" marB="18288" anchor="ctr">
                    <a:solidFill>
                      <a:srgbClr val="F4F7FA"/>
                    </a:solidFill>
                  </a:tcPr>
                </a:tc>
                <a:tc>
                  <a:txBody>
                    <a:bodyPr/>
                    <a:lstStyle/>
                    <a:p>
                      <a:r>
                        <a:rPr sz="1200" b="1" i="0">
                          <a:solidFill>
                            <a:srgbClr val="0B1F33"/>
                          </a:solidFill>
                          <a:latin typeface="Arial"/>
                        </a:rPr>
                        <a:t>Chunk</a:t>
                      </a:r>
                    </a:p>
                  </a:txBody>
                  <a:tcPr marL="82296" marR="54864" marT="18288" marB="18288" anchor="ctr">
                    <a:solidFill>
                      <a:srgbClr val="F4F7FA"/>
                    </a:solidFill>
                  </a:tcPr>
                </a:tc>
                <a:tc>
                  <a:txBody>
                    <a:bodyPr/>
                    <a:lstStyle/>
                    <a:p>
                      <a:r>
                        <a:rPr sz="1200" b="0" i="0">
                          <a:solidFill>
                            <a:srgbClr val="33475C"/>
                          </a:solidFill>
                          <a:latin typeface="Arial"/>
                        </a:rPr>
                        <a:t>Text is split into a big *parent* (a slide or CV section) and small *children* (bullets, entries)</a:t>
                      </a:r>
                    </a:p>
                  </a:txBody>
                  <a:tcPr marL="82296" marR="54864" marT="18288" marB="18288" anchor="ctr">
                    <a:solidFill>
                      <a:srgbClr val="F4F7FA"/>
                    </a:solidFill>
                  </a:tcPr>
                </a:tc>
              </a:tr>
              <a:tr h="420624">
                <a:tc>
                  <a:txBody>
                    <a:bodyPr/>
                    <a:lstStyle/>
                    <a:p>
                      <a:r>
                        <a:rPr sz="1200" b="0" i="0">
                          <a:solidFill>
                            <a:srgbClr val="33475C"/>
                          </a:solidFill>
                          <a:latin typeface="Arial"/>
                        </a:rPr>
                        <a:t>6</a:t>
                      </a:r>
                    </a:p>
                  </a:txBody>
                  <a:tcPr marL="82296" marR="54864" marT="18288" marB="18288" anchor="ctr">
                    <a:solidFill>
                      <a:srgbClr val="FFFFFF"/>
                    </a:solidFill>
                  </a:tcPr>
                </a:tc>
                <a:tc>
                  <a:txBody>
                    <a:bodyPr/>
                    <a:lstStyle/>
                    <a:p>
                      <a:r>
                        <a:rPr sz="1200" b="1" i="0">
                          <a:solidFill>
                            <a:srgbClr val="0B1F33"/>
                          </a:solidFill>
                          <a:latin typeface="Arial"/>
                        </a:rPr>
                        <a:t>Embed</a:t>
                      </a:r>
                    </a:p>
                  </a:txBody>
                  <a:tcPr marL="82296" marR="54864" marT="18288" marB="18288" anchor="ctr">
                    <a:solidFill>
                      <a:srgbClr val="FFFFFF"/>
                    </a:solidFill>
                  </a:tcPr>
                </a:tc>
                <a:tc>
                  <a:txBody>
                    <a:bodyPr/>
                    <a:lstStyle/>
                    <a:p>
                      <a:r>
                        <a:rPr sz="1200" b="0" i="0">
                          <a:solidFill>
                            <a:srgbClr val="33475C"/>
                          </a:solidFill>
                          <a:latin typeface="Arial"/>
                        </a:rPr>
                        <a:t>Only the children are embedded — voyage-4, 1024 dimensions</a:t>
                      </a:r>
                    </a:p>
                  </a:txBody>
                  <a:tcPr marL="82296" marR="54864" marT="18288" marB="18288" anchor="ctr">
                    <a:solidFill>
                      <a:srgbClr val="FFFFFF"/>
                    </a:solidFill>
                  </a:tcPr>
                </a:tc>
              </a:tr>
              <a:tr h="420624">
                <a:tc>
                  <a:txBody>
                    <a:bodyPr/>
                    <a:lstStyle/>
                    <a:p>
                      <a:r>
                        <a:rPr sz="1200" b="0" i="0">
                          <a:solidFill>
                            <a:srgbClr val="33475C"/>
                          </a:solidFill>
                          <a:latin typeface="Arial"/>
                        </a:rPr>
                        <a:t>7</a:t>
                      </a:r>
                    </a:p>
                  </a:txBody>
                  <a:tcPr marL="82296" marR="54864" marT="18288" marB="18288" anchor="ctr">
                    <a:solidFill>
                      <a:srgbClr val="F4F7FA"/>
                    </a:solidFill>
                  </a:tcPr>
                </a:tc>
                <a:tc>
                  <a:txBody>
                    <a:bodyPr/>
                    <a:lstStyle/>
                    <a:p>
                      <a:r>
                        <a:rPr sz="1200" b="1" i="0">
                          <a:solidFill>
                            <a:srgbClr val="0B1F33"/>
                          </a:solidFill>
                          <a:latin typeface="Arial"/>
                        </a:rPr>
                        <a:t>Index</a:t>
                      </a:r>
                    </a:p>
                  </a:txBody>
                  <a:tcPr marL="82296" marR="54864" marT="18288" marB="18288" anchor="ctr">
                    <a:solidFill>
                      <a:srgbClr val="F4F7FA"/>
                    </a:solidFill>
                  </a:tcPr>
                </a:tc>
                <a:tc>
                  <a:txBody>
                    <a:bodyPr/>
                    <a:lstStyle/>
                    <a:p>
                      <a:r>
                        <a:rPr sz="1200" b="0" i="0">
                          <a:solidFill>
                            <a:srgbClr val="33475C"/>
                          </a:solidFill>
                          <a:latin typeface="Arial"/>
                        </a:rPr>
                        <a:t>Everything is written to OpenSearch, one index per source, keyed so re-runs never duplicate</a:t>
                      </a:r>
                    </a:p>
                  </a:txBody>
                  <a:tcPr marL="82296" marR="54864" marT="18288" marB="18288" anchor="ctr">
                    <a:solidFill>
                      <a:srgbClr val="F4F7FA"/>
                    </a:solidFill>
                  </a:tcPr>
                </a:tc>
              </a:tr>
              <a:tr h="420624">
                <a:tc>
                  <a:txBody>
                    <a:bodyPr/>
                    <a:lstStyle/>
                    <a:p>
                      <a:r>
                        <a:rPr sz="1200" b="0" i="0">
                          <a:solidFill>
                            <a:srgbClr val="33475C"/>
                          </a:solidFill>
                          <a:latin typeface="Arial"/>
                        </a:rPr>
                        <a:t>8</a:t>
                      </a:r>
                    </a:p>
                  </a:txBody>
                  <a:tcPr marL="82296" marR="54864" marT="18288" marB="18288" anchor="ctr">
                    <a:solidFill>
                      <a:srgbClr val="FFFFFF"/>
                    </a:solidFill>
                  </a:tcPr>
                </a:tc>
                <a:tc>
                  <a:txBody>
                    <a:bodyPr/>
                    <a:lstStyle/>
                    <a:p>
                      <a:r>
                        <a:rPr sz="1200" b="1" i="0">
                          <a:solidFill>
                            <a:srgbClr val="0B1F33"/>
                          </a:solidFill>
                          <a:latin typeface="Arial"/>
                        </a:rPr>
                        <a:t>Ask</a:t>
                      </a:r>
                    </a:p>
                  </a:txBody>
                  <a:tcPr marL="82296" marR="54864" marT="18288" marB="18288" anchor="ctr">
                    <a:solidFill>
                      <a:srgbClr val="FFFFFF"/>
                    </a:solidFill>
                  </a:tcPr>
                </a:tc>
                <a:tc>
                  <a:txBody>
                    <a:bodyPr/>
                    <a:lstStyle/>
                    <a:p>
                      <a:r>
                        <a:rPr sz="1200" b="0" i="0">
                          <a:solidFill>
                            <a:srgbClr val="33475C"/>
                          </a:solidFill>
                          <a:latin typeface="Arial"/>
                        </a:rPr>
                        <a:t>Claude calls a tool with the user's question</a:t>
                      </a:r>
                    </a:p>
                  </a:txBody>
                  <a:tcPr marL="82296" marR="54864" marT="18288" marB="18288" anchor="ctr">
                    <a:solidFill>
                      <a:srgbClr val="FFFFFF"/>
                    </a:solidFill>
                  </a:tcPr>
                </a:tc>
              </a:tr>
              <a:tr h="420624">
                <a:tc>
                  <a:txBody>
                    <a:bodyPr/>
                    <a:lstStyle/>
                    <a:p>
                      <a:r>
                        <a:rPr sz="1200" b="0" i="0">
                          <a:solidFill>
                            <a:srgbClr val="33475C"/>
                          </a:solidFill>
                          <a:latin typeface="Arial"/>
                        </a:rPr>
                        <a:t>9</a:t>
                      </a:r>
                    </a:p>
                  </a:txBody>
                  <a:tcPr marL="82296" marR="54864" marT="18288" marB="18288" anchor="ctr">
                    <a:solidFill>
                      <a:srgbClr val="F4F7FA"/>
                    </a:solidFill>
                  </a:tcPr>
                </a:tc>
                <a:tc>
                  <a:txBody>
                    <a:bodyPr/>
                    <a:lstStyle/>
                    <a:p>
                      <a:r>
                        <a:rPr sz="1200" b="1" i="0">
                          <a:solidFill>
                            <a:srgbClr val="0B1F33"/>
                          </a:solidFill>
                          <a:latin typeface="Arial"/>
                        </a:rPr>
                        <a:t>Retrieve</a:t>
                      </a:r>
                    </a:p>
                  </a:txBody>
                  <a:tcPr marL="82296" marR="54864" marT="18288" marB="18288" anchor="ctr">
                    <a:solidFill>
                      <a:srgbClr val="F4F7FA"/>
                    </a:solidFill>
                  </a:tcPr>
                </a:tc>
                <a:tc>
                  <a:txBody>
                    <a:bodyPr/>
                    <a:lstStyle/>
                    <a:p>
                      <a:r>
                        <a:rPr sz="1200" b="0" i="0">
                          <a:solidFill>
                            <a:srgbClr val="33475C"/>
                          </a:solidFill>
                          <a:latin typeface="Arial"/>
                        </a:rPr>
                        <a:t>The server plans, searches vectors + keywords, reranks, and pulls the full parent text</a:t>
                      </a:r>
                    </a:p>
                  </a:txBody>
                  <a:tcPr marL="82296" marR="54864" marT="18288" marB="18288" anchor="ctr">
                    <a:solidFill>
                      <a:srgbClr val="F4F7FA"/>
                    </a:solidFill>
                  </a:tcPr>
                </a:tc>
              </a:tr>
              <a:tr h="420624">
                <a:tc>
                  <a:txBody>
                    <a:bodyPr/>
                    <a:lstStyle/>
                    <a:p>
                      <a:r>
                        <a:rPr sz="1200" b="0" i="0">
                          <a:solidFill>
                            <a:srgbClr val="33475C"/>
                          </a:solidFill>
                          <a:latin typeface="Arial"/>
                        </a:rPr>
                        <a:t>10</a:t>
                      </a:r>
                    </a:p>
                  </a:txBody>
                  <a:tcPr marL="82296" marR="54864" marT="18288" marB="18288" anchor="ctr">
                    <a:solidFill>
                      <a:srgbClr val="FFFFFF"/>
                    </a:solidFill>
                  </a:tcPr>
                </a:tc>
                <a:tc>
                  <a:txBody>
                    <a:bodyPr/>
                    <a:lstStyle/>
                    <a:p>
                      <a:r>
                        <a:rPr sz="1200" b="1" i="0">
                          <a:solidFill>
                            <a:srgbClr val="0B1F33"/>
                          </a:solidFill>
                          <a:latin typeface="Arial"/>
                        </a:rPr>
                        <a:t>Answer</a:t>
                      </a:r>
                    </a:p>
                  </a:txBody>
                  <a:tcPr marL="82296" marR="54864" marT="18288" marB="18288" anchor="ctr">
                    <a:solidFill>
                      <a:srgbClr val="FFFFFF"/>
                    </a:solidFill>
                  </a:tcPr>
                </a:tc>
                <a:tc>
                  <a:txBody>
                    <a:bodyPr/>
                    <a:lstStyle/>
                    <a:p>
                      <a:r>
                        <a:rPr sz="1200" b="0" i="0">
                          <a:solidFill>
                            <a:srgbClr val="33475C"/>
                          </a:solidFill>
                          <a:latin typeface="Arial"/>
                        </a:rPr>
                        <a:t>Hits + citations go back; Claude writes the answer and shows the links</a:t>
                      </a:r>
                    </a:p>
                  </a:txBody>
                  <a:tcPr marL="82296" marR="54864" marT="18288" marB="1828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Ingestion · step 1 — Airtable into S3</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5</a:t>
            </a:r>
          </a:p>
        </p:txBody>
      </p:sp>
      <p:sp>
        <p:nvSpPr>
          <p:cNvPr id="6" name="Rounded Rectangle 5"/>
          <p:cNvSpPr/>
          <p:nvPr/>
        </p:nvSpPr>
        <p:spPr>
          <a:xfrm>
            <a:off x="566928" y="1225296"/>
            <a:ext cx="2668447" cy="658368"/>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Read record</a:t>
            </a:r>
          </a:p>
          <a:p>
            <a:pPr algn="ctr">
              <a:spcBef>
                <a:spcPts val="100"/>
              </a:spcBef>
            </a:pPr>
            <a:r>
              <a:rPr sz="900" b="0" i="0">
                <a:solidFill>
                  <a:srgbClr val="DDE8F5"/>
                </a:solidFill>
                <a:latin typeface="Arial"/>
              </a:rPr>
              <a:t>+ attachments</a:t>
            </a:r>
          </a:p>
        </p:txBody>
      </p:sp>
      <p:sp>
        <p:nvSpPr>
          <p:cNvPr id="7" name="Right Arrow 6"/>
          <p:cNvSpPr/>
          <p:nvPr/>
        </p:nvSpPr>
        <p:spPr>
          <a:xfrm>
            <a:off x="3253297" y="1449141"/>
            <a:ext cx="92171" cy="210677"/>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63391" y="1225296"/>
            <a:ext cx="2668447" cy="658368"/>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Extract text</a:t>
            </a:r>
          </a:p>
          <a:p>
            <a:pPr algn="ctr">
              <a:spcBef>
                <a:spcPts val="100"/>
              </a:spcBef>
            </a:pPr>
            <a:r>
              <a:rPr sz="900" b="0" i="0">
                <a:solidFill>
                  <a:srgbClr val="DDE8F5"/>
                </a:solidFill>
                <a:latin typeface="Arial"/>
              </a:rPr>
              <a:t>Claude</a:t>
            </a:r>
          </a:p>
        </p:txBody>
      </p:sp>
      <p:sp>
        <p:nvSpPr>
          <p:cNvPr id="9" name="Right Arrow 8"/>
          <p:cNvSpPr/>
          <p:nvPr/>
        </p:nvSpPr>
        <p:spPr>
          <a:xfrm>
            <a:off x="6049760" y="1449141"/>
            <a:ext cx="92171" cy="210677"/>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59854" y="1225296"/>
            <a:ext cx="2668447" cy="658368"/>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Summarise</a:t>
            </a:r>
          </a:p>
          <a:p>
            <a:pPr algn="ctr">
              <a:spcBef>
                <a:spcPts val="100"/>
              </a:spcBef>
            </a:pPr>
            <a:r>
              <a:rPr sz="900" b="0" i="0">
                <a:solidFill>
                  <a:srgbClr val="DDE8F5"/>
                </a:solidFill>
                <a:latin typeface="Arial"/>
              </a:rPr>
              <a:t>file + record</a:t>
            </a:r>
          </a:p>
        </p:txBody>
      </p:sp>
      <p:sp>
        <p:nvSpPr>
          <p:cNvPr id="11" name="Right Arrow 10"/>
          <p:cNvSpPr/>
          <p:nvPr/>
        </p:nvSpPr>
        <p:spPr>
          <a:xfrm>
            <a:off x="8846223" y="1449141"/>
            <a:ext cx="92171" cy="210677"/>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56317" y="1225296"/>
            <a:ext cx="2668447" cy="658368"/>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Upload</a:t>
            </a:r>
          </a:p>
          <a:p>
            <a:pPr algn="ctr">
              <a:spcBef>
                <a:spcPts val="100"/>
              </a:spcBef>
            </a:pPr>
            <a:r>
              <a:rPr sz="900" b="0" i="0">
                <a:solidFill>
                  <a:srgbClr val="DDE8F5"/>
                </a:solidFill>
                <a:latin typeface="Arial"/>
              </a:rPr>
              <a:t>S3</a:t>
            </a:r>
          </a:p>
        </p:txBody>
      </p:sp>
      <p:sp>
        <p:nvSpPr>
          <p:cNvPr id="13" name="TextBox 12"/>
          <p:cNvSpPr txBox="1"/>
          <p:nvPr/>
        </p:nvSpPr>
        <p:spPr>
          <a:xfrm>
            <a:off x="566928" y="2194560"/>
            <a:ext cx="11057839" cy="5056632"/>
          </a:xfrm>
          <a:prstGeom prst="rect">
            <a:avLst/>
          </a:prstGeom>
          <a:noFill/>
        </p:spPr>
        <p:txBody>
          <a:bodyPr wrap="square" lIns="0" rIns="0" tIns="0" bIns="0">
            <a:spAutoFit/>
          </a:bodyPr>
          <a:lstStyle/>
          <a:p>
            <a:pPr>
              <a:spcBef>
                <a:spcPts val="200"/>
              </a:spcBef>
              <a:spcAft>
                <a:spcPts val="1100"/>
              </a:spcAft>
            </a:pPr>
            <a:r>
              <a:rPr sz="1400" b="1" i="0">
                <a:solidFill>
                  <a:srgbClr val="2D6CDF"/>
                </a:solidFill>
                <a:latin typeface="Arial"/>
              </a:rPr>
              <a:t>▪  </a:t>
            </a:r>
            <a:r>
              <a:rPr sz="1400" b="1" i="0">
                <a:solidFill>
                  <a:srgbClr val="0B1F33"/>
                </a:solidFill>
                <a:latin typeface="Arial"/>
              </a:rPr>
              <a:t>What syncs today:</a:t>
            </a:r>
            <a:r>
              <a:rPr sz="1400" b="0" i="0">
                <a:solidFill>
                  <a:srgbClr val="33475C"/>
                </a:solidFill>
                <a:latin typeface="Arial"/>
              </a:rPr>
              <a:t> all four sources — Profiles (CVs, bios), D.Quals (deliverables, insights, proposals), Proposal Library and Knowledge Library (attachments).</a:t>
            </a:r>
          </a:p>
          <a:p>
            <a:pPr>
              <a:spcBef>
                <a:spcPts val="200"/>
              </a:spcBef>
              <a:spcAft>
                <a:spcPts val="1100"/>
              </a:spcAft>
            </a:pPr>
            <a:r>
              <a:rPr sz="1400" b="1" i="0">
                <a:solidFill>
                  <a:srgbClr val="2D6CDF"/>
                </a:solidFill>
                <a:latin typeface="Arial"/>
              </a:rPr>
              <a:t>▪  </a:t>
            </a:r>
            <a:r>
              <a:rPr sz="1400" b="1" i="0">
                <a:solidFill>
                  <a:srgbClr val="0B1F33"/>
                </a:solidFill>
                <a:latin typeface="Arial"/>
              </a:rPr>
              <a:t>Three things land in S3 per file:</a:t>
            </a:r>
            <a:r>
              <a:rPr sz="1400" b="0" i="0">
                <a:solidFill>
                  <a:srgbClr val="33475C"/>
                </a:solidFill>
                <a:latin typeface="Arial"/>
              </a:rPr>
              <a:t> the original binary, a </a:t>
            </a:r>
            <a:r>
              <a:rPr sz="1340" b="0" i="0">
                <a:solidFill>
                  <a:srgbClr val="2D6CDF"/>
                </a:solidFill>
                <a:latin typeface="Consolas"/>
              </a:rPr>
              <a:t>__normalized.txt</a:t>
            </a:r>
            <a:r>
              <a:rPr sz="1400" b="0" i="0">
                <a:solidFill>
                  <a:srgbClr val="33475C"/>
                </a:solidFill>
                <a:latin typeface="Arial"/>
              </a:rPr>
              <a:t> extraction, and a record-level summary. Only the </a:t>
            </a:r>
            <a:r>
              <a:rPr sz="1340" b="0" i="0">
                <a:solidFill>
                  <a:srgbClr val="2D6CDF"/>
                </a:solidFill>
                <a:latin typeface="Consolas"/>
              </a:rPr>
              <a:t>.txt</a:t>
            </a:r>
            <a:r>
              <a:rPr sz="1400" b="0" i="0">
                <a:solidFill>
                  <a:srgbClr val="33475C"/>
                </a:solidFill>
                <a:latin typeface="Arial"/>
              </a:rPr>
              <a:t> is ever embedded — never the raw binary, so nothing bypasses the extraction step.</a:t>
            </a:r>
          </a:p>
          <a:p>
            <a:pPr>
              <a:spcBef>
                <a:spcPts val="200"/>
              </a:spcBef>
              <a:spcAft>
                <a:spcPts val="1100"/>
              </a:spcAft>
            </a:pPr>
            <a:r>
              <a:rPr sz="1400" b="1" i="0">
                <a:solidFill>
                  <a:srgbClr val="2D6CDF"/>
                </a:solidFill>
                <a:latin typeface="Arial"/>
              </a:rPr>
              <a:t>▪  </a:t>
            </a:r>
            <a:r>
              <a:rPr sz="1400" b="1" i="0">
                <a:solidFill>
                  <a:srgbClr val="0B1F33"/>
                </a:solidFill>
                <a:latin typeface="Arial"/>
              </a:rPr>
              <a:t>Structured fields become facets.</a:t>
            </a:r>
            <a:r>
              <a:rPr sz="1400" b="0" i="0">
                <a:solidFill>
                  <a:srgbClr val="33475C"/>
                </a:solidFill>
                <a:latin typeface="Arial"/>
              </a:rPr>
              <a:t> Client, practice area, region, dates and so on are pulled out as filterable keywords, and a small metadata header is written into the text so search matches on category and geography too.</a:t>
            </a:r>
          </a:p>
          <a:p>
            <a:pPr>
              <a:spcBef>
                <a:spcPts val="200"/>
              </a:spcBef>
              <a:spcAft>
                <a:spcPts val="1100"/>
              </a:spcAft>
            </a:pPr>
            <a:r>
              <a:rPr sz="1400" b="1" i="0">
                <a:solidFill>
                  <a:srgbClr val="2D6CDF"/>
                </a:solidFill>
                <a:latin typeface="Arial"/>
              </a:rPr>
              <a:t>▪  </a:t>
            </a:r>
            <a:r>
              <a:rPr sz="1400" b="1" i="0">
                <a:solidFill>
                  <a:srgbClr val="0B1F33"/>
                </a:solidFill>
                <a:latin typeface="Arial"/>
              </a:rPr>
              <a:t>Re-running is safe.</a:t>
            </a:r>
            <a:r>
              <a:rPr sz="1400" b="0" i="0">
                <a:solidFill>
                  <a:srgbClr val="33475C"/>
                </a:solidFill>
                <a:latin typeface="Arial"/>
              </a:rPr>
              <a:t> A file counts as done only when its extracted text exists — so a run that crashed halfway is retried, not skipped forever.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400" b="1" i="0">
                <a:solidFill>
                  <a:srgbClr val="FFFFFF"/>
                </a:solidFill>
                <a:latin typeface="Arial"/>
              </a:rPr>
              <a:t>Ingestion · step 2 — turning decks into searchable text</a:t>
            </a:r>
          </a:p>
          <a:p>
            <a:pPr>
              <a:spcBef>
                <a:spcPts val="200"/>
              </a:spcBef>
            </a:pPr>
            <a:r>
              <a:rPr sz="1150" b="0" i="0">
                <a:solidFill>
                  <a:srgbClr val="9FB6CC"/>
                </a:solidFill>
                <a:latin typeface="Arial"/>
              </a:rPr>
              <a:t>The most expensive stage, so it is built to spend AI tokens only where they buy accuracy</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6</a:t>
            </a:r>
          </a:p>
        </p:txBody>
      </p:sp>
      <p:sp>
        <p:nvSpPr>
          <p:cNvPr id="6" name="Rounded Rectangle 5"/>
          <p:cNvSpPr/>
          <p:nvPr/>
        </p:nvSpPr>
        <p:spPr>
          <a:xfrm>
            <a:off x="566928" y="1371600"/>
            <a:ext cx="2109155" cy="749808"/>
          </a:xfrm>
          <a:prstGeom prst="roundRect">
            <a:avLst>
              <a:gd name="adj" fmla="val 12000"/>
            </a:avLst>
          </a:prstGeom>
          <a:solidFill>
            <a:srgbClr val="334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Arial"/>
              </a:rPr>
              <a:t>Render</a:t>
            </a:r>
          </a:p>
          <a:p>
            <a:pPr algn="ctr">
              <a:spcBef>
                <a:spcPts val="100"/>
              </a:spcBef>
            </a:pPr>
            <a:r>
              <a:rPr sz="850" b="0" i="0">
                <a:solidFill>
                  <a:srgbClr val="DDE8F5"/>
                </a:solidFill>
                <a:latin typeface="Arial"/>
              </a:rPr>
              <a:t>slides → images</a:t>
            </a:r>
          </a:p>
        </p:txBody>
      </p:sp>
      <p:sp>
        <p:nvSpPr>
          <p:cNvPr id="7" name="Right Arrow 6"/>
          <p:cNvSpPr/>
          <p:nvPr/>
        </p:nvSpPr>
        <p:spPr>
          <a:xfrm>
            <a:off x="2694005" y="1626534"/>
            <a:ext cx="92171" cy="239938"/>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04099" y="1371600"/>
            <a:ext cx="2109155" cy="749808"/>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Arial"/>
              </a:rPr>
              <a:t>Parse</a:t>
            </a:r>
          </a:p>
          <a:p>
            <a:pPr algn="ctr">
              <a:spcBef>
                <a:spcPts val="100"/>
              </a:spcBef>
            </a:pPr>
            <a:r>
              <a:rPr sz="850" b="0" i="0">
                <a:solidFill>
                  <a:srgbClr val="DDE8F5"/>
                </a:solidFill>
                <a:latin typeface="Arial"/>
              </a:rPr>
              <a:t>read the file directly</a:t>
            </a:r>
          </a:p>
        </p:txBody>
      </p:sp>
      <p:sp>
        <p:nvSpPr>
          <p:cNvPr id="9" name="Right Arrow 8"/>
          <p:cNvSpPr/>
          <p:nvPr/>
        </p:nvSpPr>
        <p:spPr>
          <a:xfrm>
            <a:off x="4931176" y="1626534"/>
            <a:ext cx="92171" cy="239938"/>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41270" y="1371600"/>
            <a:ext cx="2109155" cy="749808"/>
          </a:xfrm>
          <a:prstGeom prst="roundRect">
            <a:avLst>
              <a:gd name="adj" fmla="val 12000"/>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Arial"/>
              </a:rPr>
              <a:t>Decide</a:t>
            </a:r>
          </a:p>
          <a:p>
            <a:pPr algn="ctr">
              <a:spcBef>
                <a:spcPts val="100"/>
              </a:spcBef>
            </a:pPr>
            <a:r>
              <a:rPr sz="850" b="0" i="0">
                <a:solidFill>
                  <a:srgbClr val="DDE8F5"/>
                </a:solidFill>
                <a:latin typeface="Arial"/>
              </a:rPr>
              <a:t>is the parser enough?</a:t>
            </a:r>
          </a:p>
        </p:txBody>
      </p:sp>
      <p:sp>
        <p:nvSpPr>
          <p:cNvPr id="11" name="Right Arrow 10"/>
          <p:cNvSpPr/>
          <p:nvPr/>
        </p:nvSpPr>
        <p:spPr>
          <a:xfrm>
            <a:off x="7168347" y="1626534"/>
            <a:ext cx="92171" cy="239938"/>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78441" y="1371600"/>
            <a:ext cx="2109155" cy="749808"/>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Arial"/>
              </a:rPr>
              <a:t>Look</a:t>
            </a:r>
          </a:p>
          <a:p>
            <a:pPr algn="ctr">
              <a:spcBef>
                <a:spcPts val="100"/>
              </a:spcBef>
            </a:pPr>
            <a:r>
              <a:rPr sz="850" b="0" i="0">
                <a:solidFill>
                  <a:srgbClr val="DDE8F5"/>
                </a:solidFill>
                <a:latin typeface="Arial"/>
              </a:rPr>
              <a:t>vision model on hard slides</a:t>
            </a:r>
          </a:p>
        </p:txBody>
      </p:sp>
      <p:sp>
        <p:nvSpPr>
          <p:cNvPr id="13" name="Right Arrow 12"/>
          <p:cNvSpPr/>
          <p:nvPr/>
        </p:nvSpPr>
        <p:spPr>
          <a:xfrm>
            <a:off x="9405518" y="1626534"/>
            <a:ext cx="92171" cy="239938"/>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15612" y="1371600"/>
            <a:ext cx="2109155" cy="749808"/>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Arial"/>
              </a:rPr>
              <a:t>Summarise</a:t>
            </a:r>
          </a:p>
          <a:p>
            <a:pPr algn="ctr">
              <a:spcBef>
                <a:spcPts val="100"/>
              </a:spcBef>
            </a:pPr>
            <a:r>
              <a:rPr sz="850" b="0" i="0">
                <a:solidFill>
                  <a:srgbClr val="DDE8F5"/>
                </a:solidFill>
                <a:latin typeface="Arial"/>
              </a:rPr>
              <a:t>document + record</a:t>
            </a:r>
          </a:p>
        </p:txBody>
      </p:sp>
      <p:sp>
        <p:nvSpPr>
          <p:cNvPr id="15" name="Rounded Rectangle 14"/>
          <p:cNvSpPr/>
          <p:nvPr/>
        </p:nvSpPr>
        <p:spPr>
          <a:xfrm>
            <a:off x="566928" y="2377440"/>
            <a:ext cx="5715000" cy="1874519"/>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377440"/>
            <a:ext cx="50292" cy="1874519"/>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9808" y="2496312"/>
            <a:ext cx="5394960" cy="1655063"/>
          </a:xfrm>
          <a:prstGeom prst="rect">
            <a:avLst/>
          </a:prstGeom>
          <a:noFill/>
        </p:spPr>
        <p:txBody>
          <a:bodyPr wrap="square" lIns="0" rIns="0" tIns="0" bIns="0">
            <a:spAutoFit/>
          </a:bodyPr>
          <a:lstStyle/>
          <a:p>
            <a:pPr>
              <a:spcAft>
                <a:spcPts val="600"/>
              </a:spcAft>
            </a:pPr>
            <a:r>
              <a:rPr sz="1350" b="1" i="0">
                <a:solidFill>
                  <a:srgbClr val="0B1F33"/>
                </a:solidFill>
                <a:latin typeface="Arial"/>
              </a:rPr>
              <a:t>The idea</a:t>
            </a:r>
          </a:p>
          <a:p>
            <a:pPr>
              <a:spcAft>
                <a:spcPts val="400"/>
              </a:spcAft>
            </a:pPr>
            <a:r>
              <a:rPr sz="1250" b="0" i="0">
                <a:solidFill>
                  <a:srgbClr val="33475C"/>
                </a:solidFill>
                <a:latin typeface="Arial"/>
              </a:rPr>
              <a:t>Reading a PPTX file directly is </a:t>
            </a:r>
            <a:r>
              <a:rPr sz="1250" b="1" i="0">
                <a:solidFill>
                  <a:srgbClr val="0B1F33"/>
                </a:solidFill>
                <a:latin typeface="Arial"/>
              </a:rPr>
              <a:t>free and exact</a:t>
            </a:r>
            <a:r>
              <a:rPr sz="1250" b="0" i="0">
                <a:solidFill>
                  <a:srgbClr val="33475C"/>
                </a:solidFill>
                <a:latin typeface="Arial"/>
              </a:rPr>
              <a:t> — it gives real text and real tables.</a:t>
            </a:r>
          </a:p>
          <a:p>
            <a:pPr>
              <a:spcAft>
                <a:spcPts val="400"/>
              </a:spcAft>
            </a:pPr>
            <a:r>
              <a:rPr sz="1250" b="0" i="0">
                <a:solidFill>
                  <a:srgbClr val="33475C"/>
                </a:solidFill>
                <a:latin typeface="Arial"/>
              </a:rPr>
              <a:t>But it cannot read a </a:t>
            </a:r>
            <a:r>
              <a:rPr sz="1250" b="1" i="0">
                <a:solidFill>
                  <a:srgbClr val="0B1F33"/>
                </a:solidFill>
                <a:latin typeface="Arial"/>
              </a:rPr>
              <a:t>chart, diagram or picture</a:t>
            </a:r>
            <a:r>
              <a:rPr sz="1250" b="0" i="0">
                <a:solidFill>
                  <a:srgbClr val="33475C"/>
                </a:solidFill>
                <a:latin typeface="Arial"/>
              </a:rPr>
              <a:t>.</a:t>
            </a:r>
          </a:p>
          <a:p>
            <a:pPr>
              <a:spcAft>
                <a:spcPts val="400"/>
              </a:spcAft>
            </a:pPr>
            <a:r>
              <a:rPr sz="1250" b="0" i="0">
                <a:solidFill>
                  <a:srgbClr val="33475C"/>
                </a:solidFill>
                <a:latin typeface="Arial"/>
              </a:rPr>
              <a:t>So we only send a slide to the vision model when it is genuinely visual *and* the parsed text looks thin. A logo on a text-heavy slide is not worth a model call.</a:t>
            </a:r>
          </a:p>
        </p:txBody>
      </p:sp>
      <p:sp>
        <p:nvSpPr>
          <p:cNvPr id="18" name="Rounded Rectangle 17"/>
          <p:cNvSpPr/>
          <p:nvPr/>
        </p:nvSpPr>
        <p:spPr>
          <a:xfrm>
            <a:off x="6556248" y="2377440"/>
            <a:ext cx="5056632" cy="1874519"/>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56248" y="2377440"/>
            <a:ext cx="50292" cy="1874519"/>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39128" y="2496312"/>
            <a:ext cx="4736592" cy="1655063"/>
          </a:xfrm>
          <a:prstGeom prst="rect">
            <a:avLst/>
          </a:prstGeom>
          <a:noFill/>
        </p:spPr>
        <p:txBody>
          <a:bodyPr wrap="square" lIns="0" rIns="0" tIns="0" bIns="0">
            <a:spAutoFit/>
          </a:bodyPr>
          <a:lstStyle/>
          <a:p>
            <a:pPr>
              <a:spcAft>
                <a:spcPts val="600"/>
              </a:spcAft>
            </a:pPr>
            <a:r>
              <a:rPr sz="1350" b="1" i="0">
                <a:solidFill>
                  <a:srgbClr val="0B1F33"/>
                </a:solidFill>
                <a:latin typeface="Arial"/>
              </a:rPr>
              <a:t>Summaries follow a cost rule</a:t>
            </a:r>
          </a:p>
          <a:p>
            <a:pPr>
              <a:spcAft>
                <a:spcPts val="400"/>
              </a:spcAft>
            </a:pPr>
            <a:r>
              <a:rPr sz="1250" b="1" i="0">
                <a:solidFill>
                  <a:srgbClr val="0B1F33"/>
                </a:solidFill>
                <a:latin typeface="Arial"/>
              </a:rPr>
              <a:t>1 file</a:t>
            </a:r>
            <a:r>
              <a:rPr sz="1250" b="0" i="0">
                <a:solidFill>
                  <a:srgbClr val="33475C"/>
                </a:solidFill>
                <a:latin typeface="Arial"/>
              </a:rPr>
              <a:t> → reuse that file's own summary. No extra call.</a:t>
            </a:r>
          </a:p>
          <a:p>
            <a:pPr>
              <a:spcAft>
                <a:spcPts val="400"/>
              </a:spcAft>
            </a:pPr>
            <a:r>
              <a:rPr sz="1250" b="1" i="0">
                <a:solidFill>
                  <a:srgbClr val="0B1F33"/>
                </a:solidFill>
                <a:latin typeface="Arial"/>
              </a:rPr>
              <a:t>2+ files</a:t>
            </a:r>
            <a:r>
              <a:rPr sz="1250" b="0" i="0">
                <a:solidFill>
                  <a:srgbClr val="33475C"/>
                </a:solidFill>
                <a:latin typeface="Arial"/>
              </a:rPr>
              <a:t> → one call over the *summaries*, never the full text.</a:t>
            </a:r>
          </a:p>
          <a:p>
            <a:pPr>
              <a:spcAft>
                <a:spcPts val="400"/>
              </a:spcAft>
            </a:pPr>
            <a:r>
              <a:rPr sz="1250" b="0" i="0">
                <a:solidFill>
                  <a:srgbClr val="33475C"/>
                </a:solidFill>
                <a:latin typeface="Arial"/>
              </a:rPr>
              <a:t>Any failure falls back to joining the summaries together, so the artifact always exists.</a:t>
            </a:r>
          </a:p>
        </p:txBody>
      </p:sp>
      <p:sp>
        <p:nvSpPr>
          <p:cNvPr id="21" name="Rounded Rectangle 20"/>
          <p:cNvSpPr/>
          <p:nvPr/>
        </p:nvSpPr>
        <p:spPr>
          <a:xfrm>
            <a:off x="566928" y="4434840"/>
            <a:ext cx="11057839" cy="17373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 y="4434840"/>
            <a:ext cx="50292" cy="173736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9808" y="4553712"/>
            <a:ext cx="10737799" cy="1517904"/>
          </a:xfrm>
          <a:prstGeom prst="rect">
            <a:avLst/>
          </a:prstGeom>
          <a:noFill/>
        </p:spPr>
        <p:txBody>
          <a:bodyPr wrap="square" lIns="0" rIns="0" tIns="0" bIns="0">
            <a:spAutoFit/>
          </a:bodyPr>
          <a:lstStyle/>
          <a:p>
            <a:pPr>
              <a:spcAft>
                <a:spcPts val="600"/>
              </a:spcAft>
            </a:pPr>
            <a:r>
              <a:rPr sz="1350" b="1" i="0">
                <a:solidFill>
                  <a:srgbClr val="0B1F33"/>
                </a:solidFill>
                <a:latin typeface="Arial"/>
              </a:rPr>
              <a:t>Doing this at library scale</a:t>
            </a:r>
          </a:p>
          <a:p>
            <a:pPr>
              <a:spcAft>
                <a:spcPts val="400"/>
              </a:spcAft>
            </a:pPr>
            <a:r>
              <a:rPr sz="1250" b="0" i="0">
                <a:solidFill>
                  <a:srgbClr val="33475C"/>
                </a:solidFill>
                <a:latin typeface="Arial"/>
              </a:rPr>
              <a:t>The whole library is thousands of decks. Running them one at a time through a live API is the single biggest cost in the system.</a:t>
            </a:r>
          </a:p>
          <a:p>
            <a:pPr>
              <a:spcAft>
                <a:spcPts val="400"/>
              </a:spcAft>
            </a:pPr>
            <a:r>
              <a:rPr sz="1250" b="0" i="0">
                <a:solidFill>
                  <a:srgbClr val="33475C"/>
                </a:solidFill>
                <a:latin typeface="Arial"/>
              </a:rPr>
              <a:t>So the bulk job uses the </a:t>
            </a:r>
            <a:r>
              <a:rPr sz="1250" b="1" i="0">
                <a:solidFill>
                  <a:srgbClr val="0B1F33"/>
                </a:solidFill>
                <a:latin typeface="Arial"/>
              </a:rPr>
              <a:t>Batch API</a:t>
            </a:r>
            <a:r>
              <a:rPr sz="1250" b="0" i="0">
                <a:solidFill>
                  <a:srgbClr val="33475C"/>
                </a:solidFill>
                <a:latin typeface="Arial"/>
              </a:rPr>
              <a:t> — roughly </a:t>
            </a:r>
            <a:r>
              <a:rPr sz="1250" b="1" i="0">
                <a:solidFill>
                  <a:srgbClr val="0B1F33"/>
                </a:solidFill>
                <a:latin typeface="Arial"/>
              </a:rPr>
              <a:t>half the price</a:t>
            </a:r>
            <a:r>
              <a:rPr sz="1250" b="0" i="0">
                <a:solidFill>
                  <a:srgbClr val="33475C"/>
                </a:solidFill>
                <a:latin typeface="Arial"/>
              </a:rPr>
              <a:t>, in exchange for latency we don't care about offline. Slide images are uploaded once and referenced by id, and the batch path reuses the *same* prompts and parsing code as the live path so the two can't drift apart.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Ingestion · step 3 — chunking</a:t>
            </a:r>
          </a:p>
          <a:p>
            <a:pPr>
              <a:spcBef>
                <a:spcPts val="200"/>
              </a:spcBef>
            </a:pPr>
            <a:r>
              <a:rPr sz="1150" b="0" i="0">
                <a:solidFill>
                  <a:srgbClr val="9FB6CC"/>
                </a:solidFill>
                <a:latin typeface="Arial"/>
              </a:rPr>
              <a:t>Small pieces to search, big pieces to read</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7</a:t>
            </a:r>
          </a:p>
        </p:txBody>
      </p:sp>
      <p:sp>
        <p:nvSpPr>
          <p:cNvPr id="6" name="Rounded Rectangle 5"/>
          <p:cNvSpPr/>
          <p:nvPr/>
        </p:nvSpPr>
        <p:spPr>
          <a:xfrm>
            <a:off x="566928" y="1207008"/>
            <a:ext cx="11057839" cy="13716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07008"/>
            <a:ext cx="50292" cy="13716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25880"/>
            <a:ext cx="10737799" cy="1152144"/>
          </a:xfrm>
          <a:prstGeom prst="rect">
            <a:avLst/>
          </a:prstGeom>
          <a:noFill/>
        </p:spPr>
        <p:txBody>
          <a:bodyPr wrap="square" lIns="0" rIns="0" tIns="0" bIns="0">
            <a:spAutoFit/>
          </a:bodyPr>
          <a:lstStyle/>
          <a:p>
            <a:pPr>
              <a:spcAft>
                <a:spcPts val="600"/>
              </a:spcAft>
            </a:pPr>
            <a:r>
              <a:rPr sz="1350" b="1" i="0">
                <a:solidFill>
                  <a:srgbClr val="0B1F33"/>
                </a:solidFill>
                <a:latin typeface="Arial"/>
              </a:rPr>
              <a:t>Parent and child</a:t>
            </a:r>
          </a:p>
          <a:p>
            <a:pPr>
              <a:spcAft>
                <a:spcPts val="400"/>
              </a:spcAft>
            </a:pPr>
            <a:r>
              <a:rPr sz="1210" b="0" i="0">
                <a:solidFill>
                  <a:srgbClr val="33475C"/>
                </a:solidFill>
                <a:latin typeface="Arial"/>
              </a:rPr>
              <a:t>Each document is split twice. A </a:t>
            </a:r>
            <a:r>
              <a:rPr sz="1210" b="1" i="0">
                <a:solidFill>
                  <a:srgbClr val="0B1F33"/>
                </a:solidFill>
                <a:latin typeface="Arial"/>
              </a:rPr>
              <a:t>child</a:t>
            </a:r>
            <a:r>
              <a:rPr sz="1210" b="0" i="0">
                <a:solidFill>
                  <a:srgbClr val="33475C"/>
                </a:solidFill>
                <a:latin typeface="Arial"/>
              </a:rPr>
              <a:t> is small — a bullet, a table row, one job on a CV — which makes a precise, focused vector to search against. A </a:t>
            </a:r>
            <a:r>
              <a:rPr sz="1210" b="1" i="0">
                <a:solidFill>
                  <a:srgbClr val="0B1F33"/>
                </a:solidFill>
                <a:latin typeface="Arial"/>
              </a:rPr>
              <a:t>parent</a:t>
            </a:r>
            <a:r>
              <a:rPr sz="1210" b="0" i="0">
                <a:solidFill>
                  <a:srgbClr val="33475C"/>
                </a:solidFill>
                <a:latin typeface="Arial"/>
              </a:rPr>
              <a:t> is the whole slide or CV section it came from.</a:t>
            </a:r>
          </a:p>
          <a:p>
            <a:pPr>
              <a:spcAft>
                <a:spcPts val="400"/>
              </a:spcAft>
            </a:pPr>
            <a:r>
              <a:rPr sz="1210" b="0" i="0">
                <a:solidFill>
                  <a:srgbClr val="33475C"/>
                </a:solidFill>
                <a:latin typeface="Arial"/>
              </a:rPr>
              <a:t>Search runs over children only. When one matches, we return its </a:t>
            </a:r>
            <a:r>
              <a:rPr sz="1210" b="1" i="0">
                <a:solidFill>
                  <a:srgbClr val="0B1F33"/>
                </a:solidFill>
                <a:latin typeface="Arial"/>
              </a:rPr>
              <a:t>parent</a:t>
            </a:r>
            <a:r>
              <a:rPr sz="1210" b="0" i="0">
                <a:solidFill>
                  <a:srgbClr val="33475C"/>
                </a:solidFill>
                <a:latin typeface="Arial"/>
              </a:rPr>
              <a:t>, so the model reads the full slide instead of one orphaned bullet.</a:t>
            </a:r>
          </a:p>
        </p:txBody>
      </p:sp>
      <p:graphicFrame>
        <p:nvGraphicFramePr>
          <p:cNvPr id="9" name="Table 8"/>
          <p:cNvGraphicFramePr>
            <a:graphicFrameLocks noGrp="1"/>
          </p:cNvGraphicFramePr>
          <p:nvPr/>
        </p:nvGraphicFramePr>
        <p:xfrm>
          <a:off x="566928" y="2743200"/>
          <a:ext cx="11057837" cy="2404872"/>
        </p:xfrm>
        <a:graphic>
          <a:graphicData uri="http://schemas.openxmlformats.org/drawingml/2006/table">
            <a:tbl>
              <a:tblPr firstRow="1">
                <a:tableStyleId>{5C22544A-7EE6-4342-B048-85BDC9FD1C3A}</a:tableStyleId>
              </a:tblPr>
              <a:tblGrid>
                <a:gridCol w="1343475"/>
                <a:gridCol w="2790295"/>
                <a:gridCol w="3307017"/>
                <a:gridCol w="3617050"/>
              </a:tblGrid>
              <a:tr h="347472">
                <a:tc>
                  <a:txBody>
                    <a:bodyPr/>
                    <a:lstStyle/>
                    <a:p>
                      <a:r>
                        <a:rPr sz="1200" b="1" i="0">
                          <a:solidFill>
                            <a:srgbClr val="FFFFFF"/>
                          </a:solidFill>
                          <a:latin typeface="Arial"/>
                        </a:rPr>
                        <a:t>Strategy</a:t>
                      </a:r>
                    </a:p>
                  </a:txBody>
                  <a:tcPr marL="82296" marR="54864" marT="27432" marB="27432" anchor="ctr">
                    <a:solidFill>
                      <a:srgbClr val="0B1F33"/>
                    </a:solidFill>
                  </a:tcPr>
                </a:tc>
                <a:tc>
                  <a:txBody>
                    <a:bodyPr/>
                    <a:lstStyle/>
                    <a:p>
                      <a:r>
                        <a:rPr sz="1200" b="1" i="0">
                          <a:solidFill>
                            <a:srgbClr val="FFFFFF"/>
                          </a:solidFill>
                          <a:latin typeface="Arial"/>
                        </a:rPr>
                        <a:t>Used for</a:t>
                      </a:r>
                    </a:p>
                  </a:txBody>
                  <a:tcPr marL="82296" marR="54864" marT="27432" marB="27432" anchor="ctr">
                    <a:solidFill>
                      <a:srgbClr val="0B1F33"/>
                    </a:solidFill>
                  </a:tcPr>
                </a:tc>
                <a:tc>
                  <a:txBody>
                    <a:bodyPr/>
                    <a:lstStyle/>
                    <a:p>
                      <a:r>
                        <a:rPr sz="1200" b="1" i="0">
                          <a:solidFill>
                            <a:srgbClr val="FFFFFF"/>
                          </a:solidFill>
                          <a:latin typeface="Arial"/>
                        </a:rPr>
                        <a:t>A parent is…</a:t>
                      </a:r>
                    </a:p>
                  </a:txBody>
                  <a:tcPr marL="82296" marR="54864" marT="27432" marB="27432" anchor="ctr">
                    <a:solidFill>
                      <a:srgbClr val="0B1F33"/>
                    </a:solidFill>
                  </a:tcPr>
                </a:tc>
                <a:tc>
                  <a:txBody>
                    <a:bodyPr/>
                    <a:lstStyle/>
                    <a:p>
                      <a:r>
                        <a:rPr sz="1200" b="1" i="0">
                          <a:solidFill>
                            <a:srgbClr val="FFFFFF"/>
                          </a:solidFill>
                          <a:latin typeface="Arial"/>
                        </a:rPr>
                        <a:t>A child is…</a:t>
                      </a:r>
                    </a:p>
                  </a:txBody>
                  <a:tcPr marL="82296" marR="54864" marT="27432" marB="27432" anchor="ctr">
                    <a:solidFill>
                      <a:srgbClr val="0B1F33"/>
                    </a:solidFill>
                  </a:tcPr>
                </a:tc>
              </a:tr>
              <a:tr h="685800">
                <a:tc>
                  <a:txBody>
                    <a:bodyPr/>
                    <a:lstStyle/>
                    <a:p>
                      <a:r>
                        <a:rPr sz="1200" b="1" i="0">
                          <a:solidFill>
                            <a:srgbClr val="0B1F33"/>
                          </a:solidFill>
                          <a:latin typeface="Arial"/>
                        </a:rPr>
                        <a:t>Slide-aware</a:t>
                      </a:r>
                    </a:p>
                  </a:txBody>
                  <a:tcPr marL="82296" marR="54864" marT="18288" marB="18288" anchor="ctr">
                    <a:solidFill>
                      <a:srgbClr val="F4F7FA"/>
                    </a:solidFill>
                  </a:tcPr>
                </a:tc>
                <a:tc>
                  <a:txBody>
                    <a:bodyPr/>
                    <a:lstStyle/>
                    <a:p>
                      <a:r>
                        <a:rPr sz="1200" b="0" i="0">
                          <a:solidFill>
                            <a:srgbClr val="33475C"/>
                          </a:solidFill>
                          <a:latin typeface="Arial"/>
                        </a:rPr>
                        <a:t>D.Quals, Knowledge Library, proposals — decks and PDFs</a:t>
                      </a:r>
                    </a:p>
                  </a:txBody>
                  <a:tcPr marL="82296" marR="54864" marT="18288" marB="18288" anchor="ctr">
                    <a:solidFill>
                      <a:srgbClr val="F4F7FA"/>
                    </a:solidFill>
                  </a:tcPr>
                </a:tc>
                <a:tc>
                  <a:txBody>
                    <a:bodyPr/>
                    <a:lstStyle/>
                    <a:p>
                      <a:r>
                        <a:rPr sz="1200" b="0" i="0">
                          <a:solidFill>
                            <a:srgbClr val="33475C"/>
                          </a:solidFill>
                          <a:latin typeface="Arial"/>
                        </a:rPr>
                        <a:t>one slide, never split, however long it is</a:t>
                      </a:r>
                    </a:p>
                  </a:txBody>
                  <a:tcPr marL="82296" marR="54864" marT="18288" marB="18288" anchor="ctr">
                    <a:solidFill>
                      <a:srgbClr val="F4F7FA"/>
                    </a:solidFill>
                  </a:tcPr>
                </a:tc>
                <a:tc>
                  <a:txBody>
                    <a:bodyPr/>
                    <a:lstStyle/>
                    <a:p>
                      <a:r>
                        <a:rPr sz="1200" b="0" i="0">
                          <a:solidFill>
                            <a:srgbClr val="33475C"/>
                          </a:solidFill>
                          <a:latin typeface="Arial"/>
                        </a:rPr>
                        <a:t>a block within the slide: bullets, table rows, speaker notes</a:t>
                      </a:r>
                    </a:p>
                  </a:txBody>
                  <a:tcPr marL="82296" marR="54864" marT="18288" marB="18288" anchor="ctr">
                    <a:solidFill>
                      <a:srgbClr val="F4F7FA"/>
                    </a:solidFill>
                  </a:tcPr>
                </a:tc>
              </a:tr>
              <a:tr h="685800">
                <a:tc>
                  <a:txBody>
                    <a:bodyPr/>
                    <a:lstStyle/>
                    <a:p>
                      <a:r>
                        <a:rPr sz="1200" b="1" i="0">
                          <a:solidFill>
                            <a:srgbClr val="0B1F33"/>
                          </a:solidFill>
                          <a:latin typeface="Arial"/>
                        </a:rPr>
                        <a:t>CV-aware</a:t>
                      </a:r>
                    </a:p>
                  </a:txBody>
                  <a:tcPr marL="82296" marR="54864" marT="18288" marB="18288" anchor="ctr">
                    <a:solidFill>
                      <a:srgbClr val="FFFFFF"/>
                    </a:solidFill>
                  </a:tcPr>
                </a:tc>
                <a:tc>
                  <a:txBody>
                    <a:bodyPr/>
                    <a:lstStyle/>
                    <a:p>
                      <a:r>
                        <a:rPr sz="1200" b="0" i="0">
                          <a:solidFill>
                            <a:srgbClr val="33475C"/>
                          </a:solidFill>
                          <a:latin typeface="Arial"/>
                        </a:rPr>
                        <a:t>Dalberg Profiles</a:t>
                      </a:r>
                    </a:p>
                  </a:txBody>
                  <a:tcPr marL="82296" marR="54864" marT="18288" marB="18288" anchor="ctr">
                    <a:solidFill>
                      <a:srgbClr val="FFFFFF"/>
                    </a:solidFill>
                  </a:tcPr>
                </a:tc>
                <a:tc>
                  <a:txBody>
                    <a:bodyPr/>
                    <a:lstStyle/>
                    <a:p>
                      <a:r>
                        <a:rPr sz="1200" b="0" i="0">
                          <a:solidFill>
                            <a:srgbClr val="33475C"/>
                          </a:solidFill>
                          <a:latin typeface="Arial"/>
                        </a:rPr>
                        <a:t>one CV section — Experience, Education, Skills…</a:t>
                      </a:r>
                    </a:p>
                  </a:txBody>
                  <a:tcPr marL="82296" marR="54864" marT="18288" marB="18288" anchor="ctr">
                    <a:solidFill>
                      <a:srgbClr val="FFFFFF"/>
                    </a:solidFill>
                  </a:tcPr>
                </a:tc>
                <a:tc>
                  <a:txBody>
                    <a:bodyPr/>
                    <a:lstStyle/>
                    <a:p>
                      <a:r>
                        <a:rPr sz="1200" b="0" i="0">
                          <a:solidFill>
                            <a:srgbClr val="33475C"/>
                          </a:solidFill>
                          <a:latin typeface="Arial"/>
                        </a:rPr>
                        <a:t>one entry — a single job, project or degree, never split mid-entry</a:t>
                      </a:r>
                    </a:p>
                  </a:txBody>
                  <a:tcPr marL="82296" marR="54864" marT="18288" marB="18288" anchor="ctr">
                    <a:solidFill>
                      <a:srgbClr val="FFFFFF"/>
                    </a:solidFill>
                  </a:tcPr>
                </a:tc>
              </a:tr>
              <a:tr h="685800">
                <a:tc>
                  <a:txBody>
                    <a:bodyPr/>
                    <a:lstStyle/>
                    <a:p>
                      <a:r>
                        <a:rPr sz="1200" b="1" i="0">
                          <a:solidFill>
                            <a:srgbClr val="0B1F33"/>
                          </a:solidFill>
                          <a:latin typeface="Arial"/>
                        </a:rPr>
                        <a:t>Default</a:t>
                      </a:r>
                    </a:p>
                  </a:txBody>
                  <a:tcPr marL="82296" marR="54864" marT="18288" marB="18288" anchor="ctr">
                    <a:solidFill>
                      <a:srgbClr val="F4F7FA"/>
                    </a:solidFill>
                  </a:tcPr>
                </a:tc>
                <a:tc>
                  <a:txBody>
                    <a:bodyPr/>
                    <a:lstStyle/>
                    <a:p>
                      <a:r>
                        <a:rPr sz="1200" b="0" i="0">
                          <a:solidFill>
                            <a:srgbClr val="33475C"/>
                          </a:solidFill>
                          <a:latin typeface="Arial"/>
                        </a:rPr>
                        <a:t>anything else</a:t>
                      </a:r>
                    </a:p>
                  </a:txBody>
                  <a:tcPr marL="82296" marR="54864" marT="18288" marB="18288" anchor="ctr">
                    <a:solidFill>
                      <a:srgbClr val="F4F7FA"/>
                    </a:solidFill>
                  </a:tcPr>
                </a:tc>
                <a:tc>
                  <a:txBody>
                    <a:bodyPr/>
                    <a:lstStyle/>
                    <a:p>
                      <a:r>
                        <a:rPr sz="1200" b="0" i="0">
                          <a:solidFill>
                            <a:srgbClr val="33475C"/>
                          </a:solidFill>
                          <a:latin typeface="Arial"/>
                        </a:rPr>
                        <a:t>a section of text, or a window if the section is huge</a:t>
                      </a:r>
                    </a:p>
                  </a:txBody>
                  <a:tcPr marL="82296" marR="54864" marT="18288" marB="18288" anchor="ctr">
                    <a:solidFill>
                      <a:srgbClr val="F4F7FA"/>
                    </a:solidFill>
                  </a:tcPr>
                </a:tc>
                <a:tc>
                  <a:txBody>
                    <a:bodyPr/>
                    <a:lstStyle/>
                    <a:p>
                      <a:r>
                        <a:rPr sz="1200" b="0" i="0">
                          <a:solidFill>
                            <a:srgbClr val="33475C"/>
                          </a:solidFill>
                          <a:latin typeface="Arial"/>
                        </a:rPr>
                        <a:t>overlapping windows of the parent text</a:t>
                      </a:r>
                    </a:p>
                  </a:txBody>
                  <a:tcPr marL="82296" marR="54864" marT="18288" marB="18288" anchor="ctr">
                    <a:solidFill>
                      <a:srgbClr val="F4F7FA"/>
                    </a:solidFill>
                  </a:tcPr>
                </a:tc>
              </a:tr>
            </a:tbl>
          </a:graphicData>
        </a:graphic>
      </p:graphicFrame>
      <p:sp>
        <p:nvSpPr>
          <p:cNvPr id="10" name="TextBox 9"/>
          <p:cNvSpPr txBox="1"/>
          <p:nvPr/>
        </p:nvSpPr>
        <p:spPr>
          <a:xfrm>
            <a:off x="566928" y="5394960"/>
            <a:ext cx="11057839" cy="457200"/>
          </a:xfrm>
          <a:prstGeom prst="rect">
            <a:avLst/>
          </a:prstGeom>
          <a:noFill/>
        </p:spPr>
        <p:txBody>
          <a:bodyPr wrap="square" lIns="0" rIns="0" tIns="0" bIns="0">
            <a:spAutoFit/>
          </a:bodyPr>
          <a:lstStyle/>
          <a:p>
            <a:pPr algn="l"/>
            <a:r>
              <a:rPr sz="1100" b="0" i="0">
                <a:solidFill>
                  <a:srgbClr val="6B7C8C"/>
                </a:solidFill>
                <a:latin typeface="Arial"/>
              </a:rPr>
              <a:t>Sizes are per-table configuration, not code — e.g. profiles use larger parents (1500 tokens) so a long Experience section stays intact, with 350-token children so a verbose role isn't cut mid-entry.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Ingestion · step 4 — embed and index</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8</a:t>
            </a:r>
          </a:p>
        </p:txBody>
      </p:sp>
      <p:sp>
        <p:nvSpPr>
          <p:cNvPr id="6" name="Rounded Rectangle 5"/>
          <p:cNvSpPr/>
          <p:nvPr/>
        </p:nvSpPr>
        <p:spPr>
          <a:xfrm>
            <a:off x="566928" y="1207008"/>
            <a:ext cx="5715000" cy="2286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07008"/>
            <a:ext cx="50292" cy="22860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25880"/>
            <a:ext cx="5394960" cy="2066544"/>
          </a:xfrm>
          <a:prstGeom prst="rect">
            <a:avLst/>
          </a:prstGeom>
          <a:noFill/>
        </p:spPr>
        <p:txBody>
          <a:bodyPr wrap="square" lIns="0" rIns="0" tIns="0" bIns="0">
            <a:spAutoFit/>
          </a:bodyPr>
          <a:lstStyle/>
          <a:p>
            <a:pPr>
              <a:spcAft>
                <a:spcPts val="600"/>
              </a:spcAft>
            </a:pPr>
            <a:r>
              <a:rPr sz="1350" b="1" i="0">
                <a:solidFill>
                  <a:srgbClr val="0B1F33"/>
                </a:solidFill>
                <a:latin typeface="Arial"/>
              </a:rPr>
              <a:t>Embedding</a:t>
            </a:r>
          </a:p>
          <a:p>
            <a:pPr>
              <a:spcAft>
                <a:spcPts val="400"/>
              </a:spcAft>
            </a:pPr>
            <a:r>
              <a:rPr sz="1250" b="1" i="0">
                <a:solidFill>
                  <a:srgbClr val="0B1F33"/>
                </a:solidFill>
                <a:latin typeface="Arial"/>
              </a:rPr>
              <a:t>voyage-4</a:t>
            </a:r>
            <a:r>
              <a:rPr sz="1250" b="0" i="0">
                <a:solidFill>
                  <a:srgbClr val="33475C"/>
                </a:solidFill>
                <a:latin typeface="Arial"/>
              </a:rPr>
              <a:t>, 1024 dimensions, children only — parents are stored but never embedded.</a:t>
            </a:r>
          </a:p>
          <a:p>
            <a:pPr>
              <a:spcAft>
                <a:spcPts val="400"/>
              </a:spcAft>
            </a:pPr>
            <a:r>
              <a:rPr sz="1250" b="0" i="0">
                <a:solidFill>
                  <a:srgbClr val="33475C"/>
                </a:solidFill>
                <a:latin typeface="Arial"/>
              </a:rPr>
              <a:t>Sent in batches of 32, with automatic retry and backoff on rate limits.</a:t>
            </a:r>
          </a:p>
          <a:p>
            <a:pPr>
              <a:spcAft>
                <a:spcPts val="400"/>
              </a:spcAft>
            </a:pPr>
            <a:r>
              <a:rPr sz="1250" b="0" i="0">
                <a:solidFill>
                  <a:srgbClr val="33475C"/>
                </a:solidFill>
                <a:latin typeface="Arial"/>
              </a:rPr>
              <a:t>The model name is stored on every chunk, so we always know which version produced a vector.</a:t>
            </a:r>
          </a:p>
        </p:txBody>
      </p:sp>
      <p:sp>
        <p:nvSpPr>
          <p:cNvPr id="9" name="Rounded Rectangle 8"/>
          <p:cNvSpPr/>
          <p:nvPr/>
        </p:nvSpPr>
        <p:spPr>
          <a:xfrm>
            <a:off x="6556248" y="1207008"/>
            <a:ext cx="5056632" cy="2286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56248" y="1207008"/>
            <a:ext cx="50292" cy="228600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9128" y="1325880"/>
            <a:ext cx="4736592" cy="2066544"/>
          </a:xfrm>
          <a:prstGeom prst="rect">
            <a:avLst/>
          </a:prstGeom>
          <a:noFill/>
        </p:spPr>
        <p:txBody>
          <a:bodyPr wrap="square" lIns="0" rIns="0" tIns="0" bIns="0">
            <a:spAutoFit/>
          </a:bodyPr>
          <a:lstStyle/>
          <a:p>
            <a:pPr>
              <a:spcAft>
                <a:spcPts val="600"/>
              </a:spcAft>
            </a:pPr>
            <a:r>
              <a:rPr sz="1350" b="1" i="0">
                <a:solidFill>
                  <a:srgbClr val="0B1F33"/>
                </a:solidFill>
                <a:latin typeface="Arial"/>
              </a:rPr>
              <a:t>Indexing — built to be re-run</a:t>
            </a:r>
          </a:p>
          <a:p>
            <a:pPr>
              <a:spcAft>
                <a:spcPts val="400"/>
              </a:spcAft>
            </a:pPr>
            <a:r>
              <a:rPr sz="1250" b="0" i="0">
                <a:solidFill>
                  <a:srgbClr val="33475C"/>
                </a:solidFill>
                <a:latin typeface="Arial"/>
              </a:rPr>
              <a:t>Each chunk has a </a:t>
            </a:r>
            <a:r>
              <a:rPr sz="1250" b="1" i="0">
                <a:solidFill>
                  <a:srgbClr val="0B1F33"/>
                </a:solidFill>
                <a:latin typeface="Arial"/>
              </a:rPr>
              <a:t>stable id</a:t>
            </a:r>
            <a:r>
              <a:rPr sz="1250" b="0" i="0">
                <a:solidFill>
                  <a:srgbClr val="33475C"/>
                </a:solidFill>
                <a:latin typeface="Arial"/>
              </a:rPr>
              <a:t>, so writing it twice updates rather than duplicates.</a:t>
            </a:r>
          </a:p>
          <a:p>
            <a:pPr>
              <a:spcAft>
                <a:spcPts val="400"/>
              </a:spcAft>
            </a:pPr>
            <a:r>
              <a:rPr sz="1250" b="0" i="0">
                <a:solidFill>
                  <a:srgbClr val="33475C"/>
                </a:solidFill>
                <a:latin typeface="Arial"/>
              </a:rPr>
              <a:t>Unchanged files are </a:t>
            </a:r>
            <a:r>
              <a:rPr sz="1250" b="1" i="0">
                <a:solidFill>
                  <a:srgbClr val="0B1F33"/>
                </a:solidFill>
                <a:latin typeface="Arial"/>
              </a:rPr>
              <a:t>skipped by content hash</a:t>
            </a:r>
            <a:r>
              <a:rPr sz="1250" b="0" i="0">
                <a:solidFill>
                  <a:srgbClr val="33475C"/>
                </a:solidFill>
                <a:latin typeface="Arial"/>
              </a:rPr>
              <a:t> before spending anything on embeddings.</a:t>
            </a:r>
          </a:p>
          <a:p>
            <a:pPr>
              <a:spcAft>
                <a:spcPts val="400"/>
              </a:spcAft>
            </a:pPr>
            <a:r>
              <a:rPr sz="1250" b="0" i="0">
                <a:solidFill>
                  <a:srgbClr val="33475C"/>
                </a:solidFill>
                <a:latin typeface="Arial"/>
              </a:rPr>
              <a:t>A changed file has its old chunks </a:t>
            </a:r>
            <a:r>
              <a:rPr sz="1250" b="1" i="0">
                <a:solidFill>
                  <a:srgbClr val="0B1F33"/>
                </a:solidFill>
                <a:latin typeface="Arial"/>
              </a:rPr>
              <a:t>deleted by key</a:t>
            </a:r>
            <a:r>
              <a:rPr sz="1250" b="0" i="0">
                <a:solidFill>
                  <a:srgbClr val="33475C"/>
                </a:solidFill>
                <a:latin typeface="Arial"/>
              </a:rPr>
              <a:t> first, so nothing stale survives.</a:t>
            </a:r>
          </a:p>
        </p:txBody>
      </p:sp>
      <p:sp>
        <p:nvSpPr>
          <p:cNvPr id="12" name="Rounded Rectangle 11"/>
          <p:cNvSpPr/>
          <p:nvPr/>
        </p:nvSpPr>
        <p:spPr>
          <a:xfrm>
            <a:off x="566928" y="3657600"/>
            <a:ext cx="11057839" cy="23774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3657600"/>
            <a:ext cx="50292" cy="237744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3776472"/>
            <a:ext cx="10737799" cy="2157984"/>
          </a:xfrm>
          <a:prstGeom prst="rect">
            <a:avLst/>
          </a:prstGeom>
          <a:noFill/>
        </p:spPr>
        <p:txBody>
          <a:bodyPr wrap="square" lIns="0" rIns="0" tIns="0" bIns="0">
            <a:spAutoFit/>
          </a:bodyPr>
          <a:lstStyle/>
          <a:p>
            <a:pPr>
              <a:spcAft>
                <a:spcPts val="600"/>
              </a:spcAft>
            </a:pPr>
            <a:r>
              <a:rPr sz="1350" b="1" i="0">
                <a:solidFill>
                  <a:srgbClr val="0B1F33"/>
                </a:solidFill>
                <a:latin typeface="Arial"/>
              </a:rPr>
              <a:t>Two guards learned the hard way</a:t>
            </a:r>
          </a:p>
          <a:p>
            <a:pPr>
              <a:spcAft>
                <a:spcPts val="400"/>
              </a:spcAft>
            </a:pPr>
            <a:r>
              <a:rPr sz="1250" b="1" i="0">
                <a:solidFill>
                  <a:srgbClr val="0B1F33"/>
                </a:solidFill>
                <a:latin typeface="Arial"/>
              </a:rPr>
              <a:t>Work in small flushes.</a:t>
            </a:r>
            <a:r>
              <a:rPr sz="1250" b="0" i="0">
                <a:solidFill>
                  <a:srgbClr val="33475C"/>
                </a:solidFill>
                <a:latin typeface="Arial"/>
              </a:rPr>
              <a:t> Embed and index in groups of ~500 children rather than the whole corpus. Memory stays flat, and a crash three hours in doesn't lose the first three hours — the re-run skips what was already written.</a:t>
            </a:r>
          </a:p>
          <a:p>
            <a:pPr>
              <a:spcAft>
                <a:spcPts val="400"/>
              </a:spcAft>
            </a:pPr>
            <a:r>
              <a:rPr sz="1250" b="1" i="0">
                <a:solidFill>
                  <a:srgbClr val="0B1F33"/>
                </a:solidFill>
                <a:latin typeface="Arial"/>
              </a:rPr>
              <a:t>Cap runaway documents.</a:t>
            </a:r>
            <a:r>
              <a:rPr sz="1250" b="0" i="0">
                <a:solidFill>
                  <a:srgbClr val="33475C"/>
                </a:solidFill>
                <a:latin typeface="Arial"/>
              </a:rPr>
              <a:t> A file producing more than ~4000 children is almost certainly a broken extraction, not a real report. It gets skipped and flagged instead of exhausting memory.</a:t>
            </a:r>
          </a:p>
          <a:p>
            <a:pPr>
              <a:spcAft>
                <a:spcPts val="400"/>
              </a:spcAft>
            </a:pPr>
            <a:r>
              <a:rPr sz="1250" b="0" i="0">
                <a:solidFill>
                  <a:srgbClr val="33475C"/>
                </a:solidFill>
                <a:latin typeface="Arial"/>
              </a:rPr>
              <a:t>Both were added after a bulk backfill tripped the OpenSearch memory circuit breaker — the same episode is why candidate depth and search accuracy settings are currently tuned conservatively.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What the search index looks like</a:t>
            </a:r>
          </a:p>
          <a:p>
            <a:pPr>
              <a:spcBef>
                <a:spcPts val="200"/>
              </a:spcBef>
            </a:pPr>
            <a:r>
              <a:rPr sz="1150" b="0" i="0">
                <a:solidFill>
                  <a:srgbClr val="9FB6CC"/>
                </a:solidFill>
                <a:latin typeface="Arial"/>
              </a:rPr>
              <a:t>One index per source: profiles, D.Quals, proposals, knowledge library</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9</a:t>
            </a:r>
          </a:p>
        </p:txBody>
      </p:sp>
      <p:graphicFrame>
        <p:nvGraphicFramePr>
          <p:cNvPr id="6" name="Table 5"/>
          <p:cNvGraphicFramePr>
            <a:graphicFrameLocks noGrp="1"/>
          </p:cNvGraphicFramePr>
          <p:nvPr/>
        </p:nvGraphicFramePr>
        <p:xfrm>
          <a:off x="566928" y="1234440"/>
          <a:ext cx="11057838" cy="3182112"/>
        </p:xfrm>
        <a:graphic>
          <a:graphicData uri="http://schemas.openxmlformats.org/drawingml/2006/table">
            <a:tbl>
              <a:tblPr firstRow="1">
                <a:tableStyleId>{5C22544A-7EE6-4342-B048-85BDC9FD1C3A}</a:tableStyleId>
              </a:tblPr>
              <a:tblGrid>
                <a:gridCol w="3980822"/>
                <a:gridCol w="7077016"/>
              </a:tblGrid>
              <a:tr h="347472">
                <a:tc>
                  <a:txBody>
                    <a:bodyPr/>
                    <a:lstStyle/>
                    <a:p>
                      <a:r>
                        <a:rPr sz="1200" b="1" i="0">
                          <a:solidFill>
                            <a:srgbClr val="FFFFFF"/>
                          </a:solidFill>
                          <a:latin typeface="Arial"/>
                        </a:rPr>
                        <a:t>What's stored</a:t>
                      </a:r>
                    </a:p>
                  </a:txBody>
                  <a:tcPr marL="82296" marR="54864" marT="27432" marB="27432" anchor="ctr">
                    <a:solidFill>
                      <a:srgbClr val="0B1F33"/>
                    </a:solidFill>
                  </a:tcPr>
                </a:tc>
                <a:tc>
                  <a:txBody>
                    <a:bodyPr/>
                    <a:lstStyle/>
                    <a:p>
                      <a:r>
                        <a:rPr sz="1200" b="1" i="0">
                          <a:solidFill>
                            <a:srgbClr val="FFFFFF"/>
                          </a:solidFill>
                          <a:latin typeface="Arial"/>
                        </a:rPr>
                        <a:t>Why it exists</a:t>
                      </a:r>
                    </a:p>
                  </a:txBody>
                  <a:tcPr marL="82296" marR="54864" marT="27432" marB="27432" anchor="ctr">
                    <a:solidFill>
                      <a:srgbClr val="0B1F33"/>
                    </a:solidFill>
                  </a:tcPr>
                </a:tc>
              </a:tr>
              <a:tr h="566928">
                <a:tc>
                  <a:txBody>
                    <a:bodyPr/>
                    <a:lstStyle/>
                    <a:p>
                      <a:r>
                        <a:rPr sz="1250" b="1" i="0">
                          <a:solidFill>
                            <a:srgbClr val="0B1F33"/>
                          </a:solidFill>
                          <a:latin typeface="Arial"/>
                        </a:rPr>
                        <a:t>The vector</a:t>
                      </a:r>
                      <a:r>
                        <a:rPr sz="1250" b="0" i="0">
                          <a:solidFill>
                            <a:srgbClr val="33475C"/>
                          </a:solidFill>
                          <a:latin typeface="Arial"/>
                        </a:rPr>
                        <a:t> — 1024 dimensions, cosine similarity, HNSW graph</a:t>
                      </a:r>
                    </a:p>
                  </a:txBody>
                  <a:tcPr marL="82296" marR="54864" marT="18288" marB="18288" anchor="ctr">
                    <a:solidFill>
                      <a:srgbClr val="F4F7FA"/>
                    </a:solidFill>
                  </a:tcPr>
                </a:tc>
                <a:tc>
                  <a:txBody>
                    <a:bodyPr/>
                    <a:lstStyle/>
                    <a:p>
                      <a:r>
                        <a:rPr sz="1250" b="0" i="0">
                          <a:solidFill>
                            <a:srgbClr val="33475C"/>
                          </a:solidFill>
                          <a:latin typeface="Arial"/>
                        </a:rPr>
                        <a:t>Meaning-based search. Only children carry one</a:t>
                      </a:r>
                    </a:p>
                  </a:txBody>
                  <a:tcPr marL="82296" marR="54864" marT="18288" marB="18288" anchor="ctr">
                    <a:solidFill>
                      <a:srgbClr val="F4F7FA"/>
                    </a:solidFill>
                  </a:tcPr>
                </a:tc>
              </a:tr>
              <a:tr h="566928">
                <a:tc>
                  <a:txBody>
                    <a:bodyPr/>
                    <a:lstStyle/>
                    <a:p>
                      <a:r>
                        <a:rPr sz="1250" b="1" i="0">
                          <a:solidFill>
                            <a:srgbClr val="0B1F33"/>
                          </a:solidFill>
                          <a:latin typeface="Arial"/>
                        </a:rPr>
                        <a:t>The text</a:t>
                      </a:r>
                      <a:r>
                        <a:rPr sz="1250" b="0" i="0">
                          <a:solidFill>
                            <a:srgbClr val="33475C"/>
                          </a:solidFill>
                          <a:latin typeface="Arial"/>
                        </a:rPr>
                        <a:t> — analysed with a Dalberg-specific analyser</a:t>
                      </a:r>
                    </a:p>
                  </a:txBody>
                  <a:tcPr marL="82296" marR="54864" marT="18288" marB="18288" anchor="ctr">
                    <a:solidFill>
                      <a:srgbClr val="FFFFFF"/>
                    </a:solidFill>
                  </a:tcPr>
                </a:tc>
                <a:tc>
                  <a:txBody>
                    <a:bodyPr/>
                    <a:lstStyle/>
                    <a:p>
                      <a:r>
                        <a:rPr sz="1250" b="0" i="0">
                          <a:solidFill>
                            <a:srgbClr val="33475C"/>
                          </a:solidFill>
                          <a:latin typeface="Arial"/>
                        </a:rPr>
                        <a:t>Keyword search. 21 synonym groups so *ESG* matches *environmental social governance*, plus stemming</a:t>
                      </a:r>
                    </a:p>
                  </a:txBody>
                  <a:tcPr marL="82296" marR="54864" marT="18288" marB="18288" anchor="ctr">
                    <a:solidFill>
                      <a:srgbClr val="FFFFFF"/>
                    </a:solidFill>
                  </a:tcPr>
                </a:tc>
              </a:tr>
              <a:tr h="566928">
                <a:tc>
                  <a:txBody>
                    <a:bodyPr/>
                    <a:lstStyle/>
                    <a:p>
                      <a:r>
                        <a:rPr sz="1250" b="1" i="0">
                          <a:solidFill>
                            <a:srgbClr val="0B1F33"/>
                          </a:solidFill>
                          <a:latin typeface="Arial"/>
                        </a:rPr>
                        <a:t>Chunk identity</a:t>
                      </a:r>
                      <a:r>
                        <a:rPr sz="1250" b="0" i="0">
                          <a:solidFill>
                            <a:srgbClr val="33475C"/>
                          </a:solidFill>
                          <a:latin typeface="Arial"/>
                        </a:rPr>
                        <a:t> — id, type, parent link, content hash</a:t>
                      </a:r>
                    </a:p>
                  </a:txBody>
                  <a:tcPr marL="82296" marR="54864" marT="18288" marB="18288" anchor="ctr">
                    <a:solidFill>
                      <a:srgbClr val="F4F7FA"/>
                    </a:solidFill>
                  </a:tcPr>
                </a:tc>
                <a:tc>
                  <a:txBody>
                    <a:bodyPr/>
                    <a:lstStyle/>
                    <a:p>
                      <a:r>
                        <a:rPr sz="1250" b="0" i="0">
                          <a:solidFill>
                            <a:srgbClr val="33475C"/>
                          </a:solidFill>
                          <a:latin typeface="Arial"/>
                        </a:rPr>
                        <a:t>Ties children to parents, and drives the skip-if-unchanged logic</a:t>
                      </a:r>
                    </a:p>
                  </a:txBody>
                  <a:tcPr marL="82296" marR="54864" marT="18288" marB="18288" anchor="ctr">
                    <a:solidFill>
                      <a:srgbClr val="F4F7FA"/>
                    </a:solidFill>
                  </a:tcPr>
                </a:tc>
              </a:tr>
              <a:tr h="566928">
                <a:tc>
                  <a:txBody>
                    <a:bodyPr/>
                    <a:lstStyle/>
                    <a:p>
                      <a:r>
                        <a:rPr sz="1250" b="1" i="0">
                          <a:solidFill>
                            <a:srgbClr val="0B1F33"/>
                          </a:solidFill>
                          <a:latin typeface="Arial"/>
                        </a:rPr>
                        <a:t>Provenance</a:t>
                      </a:r>
                      <a:r>
                        <a:rPr sz="1250" b="0" i="0">
                          <a:solidFill>
                            <a:srgbClr val="33475C"/>
                          </a:solidFill>
                          <a:latin typeface="Arial"/>
                        </a:rPr>
                        <a:t> — source table, record key, column, S3 key, Airtable ids</a:t>
                      </a:r>
                    </a:p>
                  </a:txBody>
                  <a:tcPr marL="82296" marR="54864" marT="18288" marB="18288" anchor="ctr">
                    <a:solidFill>
                      <a:srgbClr val="FFFFFF"/>
                    </a:solidFill>
                  </a:tcPr>
                </a:tc>
                <a:tc>
                  <a:txBody>
                    <a:bodyPr/>
                    <a:lstStyle/>
                    <a:p>
                      <a:r>
                        <a:rPr sz="1250" b="0" i="0">
                          <a:solidFill>
                            <a:srgbClr val="33475C"/>
                          </a:solidFill>
                          <a:latin typeface="Arial"/>
                        </a:rPr>
                        <a:t>Lets any hit be traced back to its record and its original file</a:t>
                      </a:r>
                    </a:p>
                  </a:txBody>
                  <a:tcPr marL="82296" marR="54864" marT="18288" marB="18288" anchor="ctr">
                    <a:solidFill>
                      <a:srgbClr val="FFFFFF"/>
                    </a:solidFill>
                  </a:tcPr>
                </a:tc>
              </a:tr>
              <a:tr h="566928">
                <a:tc>
                  <a:txBody>
                    <a:bodyPr/>
                    <a:lstStyle/>
                    <a:p>
                      <a:r>
                        <a:rPr sz="1250" b="1" i="0">
                          <a:solidFill>
                            <a:srgbClr val="0B1F33"/>
                          </a:solidFill>
                          <a:latin typeface="Arial"/>
                        </a:rPr>
                        <a:t>Facets</a:t>
                      </a:r>
                      <a:r>
                        <a:rPr sz="1250" b="0" i="0">
                          <a:solidFill>
                            <a:srgbClr val="33475C"/>
                          </a:solidFill>
                          <a:latin typeface="Arial"/>
                        </a:rPr>
                        <a:t> — client, practice area, region, author, type, dates…</a:t>
                      </a:r>
                    </a:p>
                  </a:txBody>
                  <a:tcPr marL="82296" marR="54864" marT="18288" marB="18288" anchor="ctr">
                    <a:solidFill>
                      <a:srgbClr val="F4F7FA"/>
                    </a:solidFill>
                  </a:tcPr>
                </a:tc>
                <a:tc>
                  <a:txBody>
                    <a:bodyPr/>
                    <a:lstStyle/>
                    <a:p>
                      <a:r>
                        <a:rPr sz="1250" b="0" i="0">
                          <a:solidFill>
                            <a:srgbClr val="33475C"/>
                          </a:solidFill>
                          <a:latin typeface="Arial"/>
                        </a:rPr>
                        <a:t>Filterable keywords, so a search can be narrowed before it runs</a:t>
                      </a:r>
                    </a:p>
                  </a:txBody>
                  <a:tcPr marL="82296" marR="54864" marT="18288" marB="18288" anchor="ctr">
                    <a:solidFill>
                      <a:srgbClr val="F4F7FA"/>
                    </a:solidFill>
                  </a:tcPr>
                </a:tc>
              </a:tr>
            </a:tbl>
          </a:graphicData>
        </a:graphic>
      </p:graphicFrame>
      <p:sp>
        <p:nvSpPr>
          <p:cNvPr id="7" name="TextBox 6"/>
          <p:cNvSpPr txBox="1"/>
          <p:nvPr/>
        </p:nvSpPr>
        <p:spPr>
          <a:xfrm>
            <a:off x="566928" y="4892040"/>
            <a:ext cx="11057839" cy="365760"/>
          </a:xfrm>
          <a:prstGeom prst="rect">
            <a:avLst/>
          </a:prstGeom>
          <a:noFill/>
        </p:spPr>
        <p:txBody>
          <a:bodyPr wrap="square" lIns="0" rIns="0" tIns="0" bIns="0">
            <a:spAutoFit/>
          </a:bodyPr>
          <a:lstStyle/>
          <a:p>
            <a:pPr algn="l"/>
            <a:r>
              <a:rPr sz="1200" b="0" i="0">
                <a:solidFill>
                  <a:srgbClr val="6B7C8C"/>
                </a:solidFill>
                <a:latin typeface="Arial"/>
              </a:rPr>
              <a:t>One shared mapping serves all four indexes — each source simply populates the facets it has. Adding a source needs no mapping change.</a:t>
            </a:r>
          </a:p>
        </p:txBody>
      </p:sp>
      <p:sp>
        <p:nvSpPr>
          <p:cNvPr id="8" name="Rounded Rectangle 7"/>
          <p:cNvSpPr/>
          <p:nvPr/>
        </p:nvSpPr>
        <p:spPr>
          <a:xfrm>
            <a:off x="566928" y="5349240"/>
            <a:ext cx="11057839" cy="86868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5349240"/>
            <a:ext cx="50292" cy="86868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9808" y="5468112"/>
            <a:ext cx="10737799" cy="649224"/>
          </a:xfrm>
          <a:prstGeom prst="rect">
            <a:avLst/>
          </a:prstGeom>
          <a:noFill/>
        </p:spPr>
        <p:txBody>
          <a:bodyPr wrap="square" lIns="0" rIns="0" tIns="0" bIns="0">
            <a:spAutoFit/>
          </a:bodyPr>
          <a:lstStyle/>
          <a:p>
            <a:pPr>
              <a:spcAft>
                <a:spcPts val="600"/>
              </a:spcAft>
            </a:pPr>
            <a:r>
              <a:rPr sz="1350" b="1" i="0">
                <a:solidFill>
                  <a:srgbClr val="0B1F33"/>
                </a:solidFill>
                <a:latin typeface="Arial"/>
              </a:rPr>
              <a:t>Current sizing</a:t>
            </a:r>
          </a:p>
          <a:p>
            <a:pPr>
              <a:spcAft>
                <a:spcPts val="400"/>
              </a:spcAft>
            </a:pPr>
            <a:r>
              <a:rPr sz="900" b="0" i="0">
                <a:solidFill>
                  <a:srgbClr val="33475C"/>
                </a:solidFill>
                <a:latin typeface="Arial"/>
              </a:rPr>
              <a:t>4 shards · 0 replicas (single-node domain) · refresh every 30 s. The replica count is 0 only because a one-node cluster cannot place a replica — it should go to 1 the moment a second node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What Claude can call — 7 tools</a:t>
            </a:r>
          </a:p>
          <a:p>
            <a:pPr>
              <a:spcBef>
                <a:spcPts val="200"/>
              </a:spcBef>
            </a:pPr>
            <a:r>
              <a:rPr sz="1150" b="0" i="0">
                <a:solidFill>
                  <a:srgbClr val="9FB6CC"/>
                </a:solidFill>
                <a:latin typeface="Arial"/>
              </a:rPr>
              <a:t>The same seven work against any source</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10</a:t>
            </a:r>
          </a:p>
        </p:txBody>
      </p:sp>
      <p:graphicFrame>
        <p:nvGraphicFramePr>
          <p:cNvPr id="6" name="Table 5"/>
          <p:cNvGraphicFramePr>
            <a:graphicFrameLocks noGrp="1"/>
          </p:cNvGraphicFramePr>
          <p:nvPr/>
        </p:nvGraphicFramePr>
        <p:xfrm>
          <a:off x="566928" y="1234440"/>
          <a:ext cx="11057837" cy="3867912"/>
        </p:xfrm>
        <a:graphic>
          <a:graphicData uri="http://schemas.openxmlformats.org/drawingml/2006/table">
            <a:tbl>
              <a:tblPr firstRow="1">
                <a:tableStyleId>{5C22544A-7EE6-4342-B048-85BDC9FD1C3A}</a:tableStyleId>
              </a:tblPr>
              <a:tblGrid>
                <a:gridCol w="1879832"/>
                <a:gridCol w="8072222"/>
                <a:gridCol w="1105783"/>
              </a:tblGrid>
              <a:tr h="347472">
                <a:tc>
                  <a:txBody>
                    <a:bodyPr/>
                    <a:lstStyle/>
                    <a:p>
                      <a:r>
                        <a:rPr sz="1200" b="1" i="0">
                          <a:solidFill>
                            <a:srgbClr val="FFFFFF"/>
                          </a:solidFill>
                          <a:latin typeface="Arial"/>
                        </a:rPr>
                        <a:t>Tool</a:t>
                      </a:r>
                    </a:p>
                  </a:txBody>
                  <a:tcPr marL="82296" marR="54864" marT="27432" marB="27432" anchor="ctr">
                    <a:solidFill>
                      <a:srgbClr val="0B1F33"/>
                    </a:solidFill>
                  </a:tcPr>
                </a:tc>
                <a:tc>
                  <a:txBody>
                    <a:bodyPr/>
                    <a:lstStyle/>
                    <a:p>
                      <a:r>
                        <a:rPr sz="1200" b="1" i="0">
                          <a:solidFill>
                            <a:srgbClr val="FFFFFF"/>
                          </a:solidFill>
                          <a:latin typeface="Arial"/>
                        </a:rPr>
                        <a:t>What it does</a:t>
                      </a:r>
                    </a:p>
                  </a:txBody>
                  <a:tcPr marL="82296" marR="54864" marT="27432" marB="27432" anchor="ctr">
                    <a:solidFill>
                      <a:srgbClr val="0B1F33"/>
                    </a:solidFill>
                  </a:tcPr>
                </a:tc>
                <a:tc>
                  <a:txBody>
                    <a:bodyPr/>
                    <a:lstStyle/>
                    <a:p>
                      <a:r>
                        <a:rPr sz="1200" b="1" i="0">
                          <a:solidFill>
                            <a:srgbClr val="FFFFFF"/>
                          </a:solidFill>
                          <a:latin typeface="Arial"/>
                        </a:rPr>
                        <a:t>Uses AI?</a:t>
                      </a:r>
                    </a:p>
                  </a:txBody>
                  <a:tcPr marL="82296" marR="54864" marT="27432" marB="27432" anchor="ctr">
                    <a:solidFill>
                      <a:srgbClr val="0B1F33"/>
                    </a:solidFill>
                  </a:tcPr>
                </a:tc>
              </a:tr>
              <a:tr h="502920">
                <a:tc>
                  <a:txBody>
                    <a:bodyPr/>
                    <a:lstStyle/>
                    <a:p>
                      <a:r>
                        <a:rPr sz="1140" b="0" i="0">
                          <a:solidFill>
                            <a:srgbClr val="2D6CDF"/>
                          </a:solidFill>
                          <a:latin typeface="Consolas"/>
                        </a:rPr>
                        <a:t>retrieval_planner</a:t>
                      </a:r>
                    </a:p>
                  </a:txBody>
                  <a:tcPr marL="82296" marR="54864" marT="18288" marB="18288" anchor="ctr">
                    <a:solidFill>
                      <a:srgbClr val="F4F7FA"/>
                    </a:solidFill>
                  </a:tcPr>
                </a:tc>
                <a:tc>
                  <a:txBody>
                    <a:bodyPr/>
                    <a:lstStyle/>
                    <a:p>
                      <a:r>
                        <a:rPr sz="1200" b="0" i="0">
                          <a:solidFill>
                            <a:srgbClr val="33475C"/>
                          </a:solidFill>
                          <a:latin typeface="Arial"/>
                        </a:rPr>
                        <a:t>Looks at the question and returns a plan: which sources, which tools, in what order. Called first</a:t>
                      </a:r>
                    </a:p>
                  </a:txBody>
                  <a:tcPr marL="82296" marR="54864" marT="18288" marB="18288" anchor="ctr">
                    <a:solidFill>
                      <a:srgbClr val="F4F7FA"/>
                    </a:solidFill>
                  </a:tcPr>
                </a:tc>
                <a:tc>
                  <a:txBody>
                    <a:bodyPr/>
                    <a:lstStyle/>
                    <a:p>
                      <a:r>
                        <a:rPr sz="1200" b="0" i="0">
                          <a:solidFill>
                            <a:srgbClr val="33475C"/>
                          </a:solidFill>
                          <a:latin typeface="Arial"/>
                        </a:rPr>
                        <a:t>Yes</a:t>
                      </a:r>
                    </a:p>
                  </a:txBody>
                  <a:tcPr marL="82296" marR="54864" marT="18288" marB="18288" anchor="ctr">
                    <a:solidFill>
                      <a:srgbClr val="F4F7FA"/>
                    </a:solidFill>
                  </a:tcPr>
                </a:tc>
              </a:tr>
              <a:tr h="502920">
                <a:tc>
                  <a:txBody>
                    <a:bodyPr/>
                    <a:lstStyle/>
                    <a:p>
                      <a:r>
                        <a:rPr sz="1140" b="0" i="0">
                          <a:solidFill>
                            <a:srgbClr val="2D6CDF"/>
                          </a:solidFill>
                          <a:latin typeface="Consolas"/>
                        </a:rPr>
                        <a:t>search</a:t>
                      </a:r>
                    </a:p>
                  </a:txBody>
                  <a:tcPr marL="82296" marR="54864" marT="18288" marB="18288" anchor="ctr">
                    <a:solidFill>
                      <a:srgbClr val="FFFFFF"/>
                    </a:solidFill>
                  </a:tcPr>
                </a:tc>
                <a:tc>
                  <a:txBody>
                    <a:bodyPr/>
                    <a:lstStyle/>
                    <a:p>
                      <a:r>
                        <a:rPr sz="1200" b="0" i="0">
                          <a:solidFill>
                            <a:srgbClr val="33475C"/>
                          </a:solidFill>
                          <a:latin typeface="Arial"/>
                        </a:rPr>
                        <a:t>The workhorse. Plans, searches and enriches in one call, and returns cited hits</a:t>
                      </a:r>
                    </a:p>
                  </a:txBody>
                  <a:tcPr marL="82296" marR="54864" marT="18288" marB="18288" anchor="ctr">
                    <a:solidFill>
                      <a:srgbClr val="FFFFFF"/>
                    </a:solidFill>
                  </a:tcPr>
                </a:tc>
                <a:tc>
                  <a:txBody>
                    <a:bodyPr/>
                    <a:lstStyle/>
                    <a:p>
                      <a:r>
                        <a:rPr sz="1200" b="0" i="0">
                          <a:solidFill>
                            <a:srgbClr val="33475C"/>
                          </a:solidFill>
                          <a:latin typeface="Arial"/>
                        </a:rPr>
                        <a:t>Yes</a:t>
                      </a:r>
                    </a:p>
                  </a:txBody>
                  <a:tcPr marL="82296" marR="54864" marT="18288" marB="18288" anchor="ctr">
                    <a:solidFill>
                      <a:srgbClr val="FFFFFF"/>
                    </a:solidFill>
                  </a:tcPr>
                </a:tc>
              </a:tr>
              <a:tr h="502920">
                <a:tc>
                  <a:txBody>
                    <a:bodyPr/>
                    <a:lstStyle/>
                    <a:p>
                      <a:r>
                        <a:rPr sz="1140" b="0" i="0">
                          <a:solidFill>
                            <a:srgbClr val="2D6CDF"/>
                          </a:solidFill>
                          <a:latin typeface="Consolas"/>
                        </a:rPr>
                        <a:t>semantic_search</a:t>
                      </a:r>
                    </a:p>
                  </a:txBody>
                  <a:tcPr marL="82296" marR="54864" marT="18288" marB="18288" anchor="ctr">
                    <a:solidFill>
                      <a:srgbClr val="F4F7FA"/>
                    </a:solidFill>
                  </a:tcPr>
                </a:tc>
                <a:tc>
                  <a:txBody>
                    <a:bodyPr/>
                    <a:lstStyle/>
                    <a:p>
                      <a:r>
                        <a:rPr sz="1200" b="0" i="0">
                          <a:solidFill>
                            <a:srgbClr val="33475C"/>
                          </a:solidFill>
                          <a:latin typeface="Arial"/>
                        </a:rPr>
                        <a:t>Meaning-based search over one source. Used as a second pass when results look thin</a:t>
                      </a:r>
                    </a:p>
                  </a:txBody>
                  <a:tcPr marL="82296" marR="54864" marT="18288" marB="18288" anchor="ctr">
                    <a:solidFill>
                      <a:srgbClr val="F4F7FA"/>
                    </a:solidFill>
                  </a:tcPr>
                </a:tc>
                <a:tc>
                  <a:txBody>
                    <a:bodyPr/>
                    <a:lstStyle/>
                    <a:p>
                      <a:r>
                        <a:rPr sz="1200" b="0" i="0">
                          <a:solidFill>
                            <a:srgbClr val="33475C"/>
                          </a:solidFill>
                          <a:latin typeface="Arial"/>
                        </a:rPr>
                        <a:t>No</a:t>
                      </a:r>
                    </a:p>
                  </a:txBody>
                  <a:tcPr marL="82296" marR="54864" marT="18288" marB="18288" anchor="ctr">
                    <a:solidFill>
                      <a:srgbClr val="F4F7FA"/>
                    </a:solidFill>
                  </a:tcPr>
                </a:tc>
              </a:tr>
              <a:tr h="502920">
                <a:tc>
                  <a:txBody>
                    <a:bodyPr/>
                    <a:lstStyle/>
                    <a:p>
                      <a:r>
                        <a:rPr sz="1140" b="0" i="0">
                          <a:solidFill>
                            <a:srgbClr val="2D6CDF"/>
                          </a:solidFill>
                          <a:latin typeface="Consolas"/>
                        </a:rPr>
                        <a:t>airtable_lookup</a:t>
                      </a:r>
                    </a:p>
                  </a:txBody>
                  <a:tcPr marL="82296" marR="54864" marT="18288" marB="18288" anchor="ctr">
                    <a:solidFill>
                      <a:srgbClr val="FFFFFF"/>
                    </a:solidFill>
                  </a:tcPr>
                </a:tc>
                <a:tc>
                  <a:txBody>
                    <a:bodyPr/>
                    <a:lstStyle/>
                    <a:p>
                      <a:r>
                        <a:rPr sz="1200" b="0" i="0">
                          <a:solidFill>
                            <a:srgbClr val="33475C"/>
                          </a:solidFill>
                          <a:latin typeface="Arial"/>
                        </a:rPr>
                        <a:t>Exact structured lookup — "everyone in the Nairobi office", "status = active"</a:t>
                      </a:r>
                    </a:p>
                  </a:txBody>
                  <a:tcPr marL="82296" marR="54864" marT="18288" marB="18288" anchor="ctr">
                    <a:solidFill>
                      <a:srgbClr val="FFFFFF"/>
                    </a:solidFill>
                  </a:tcPr>
                </a:tc>
                <a:tc>
                  <a:txBody>
                    <a:bodyPr/>
                    <a:lstStyle/>
                    <a:p>
                      <a:r>
                        <a:rPr sz="1200" b="0" i="0">
                          <a:solidFill>
                            <a:srgbClr val="33475C"/>
                          </a:solidFill>
                          <a:latin typeface="Arial"/>
                        </a:rPr>
                        <a:t>No</a:t>
                      </a:r>
                    </a:p>
                  </a:txBody>
                  <a:tcPr marL="82296" marR="54864" marT="18288" marB="18288" anchor="ctr">
                    <a:solidFill>
                      <a:srgbClr val="FFFFFF"/>
                    </a:solidFill>
                  </a:tcPr>
                </a:tc>
              </a:tr>
              <a:tr h="502920">
                <a:tc>
                  <a:txBody>
                    <a:bodyPr/>
                    <a:lstStyle/>
                    <a:p>
                      <a:r>
                        <a:rPr sz="1140" b="0" i="0">
                          <a:solidFill>
                            <a:srgbClr val="2D6CDF"/>
                          </a:solidFill>
                          <a:latin typeface="Consolas"/>
                        </a:rPr>
                        <a:t>get_schema</a:t>
                      </a:r>
                    </a:p>
                  </a:txBody>
                  <a:tcPr marL="82296" marR="54864" marT="18288" marB="18288" anchor="ctr">
                    <a:solidFill>
                      <a:srgbClr val="F4F7FA"/>
                    </a:solidFill>
                  </a:tcPr>
                </a:tc>
                <a:tc>
                  <a:txBody>
                    <a:bodyPr/>
                    <a:lstStyle/>
                    <a:p>
                      <a:r>
                        <a:rPr sz="1200" b="0" i="0">
                          <a:solidFill>
                            <a:srgbClr val="33475C"/>
                          </a:solidFill>
                          <a:latin typeface="Arial"/>
                        </a:rPr>
                        <a:t>Lists a source's real field names and options. Called before writing any filter</a:t>
                      </a:r>
                    </a:p>
                  </a:txBody>
                  <a:tcPr marL="82296" marR="54864" marT="18288" marB="18288" anchor="ctr">
                    <a:solidFill>
                      <a:srgbClr val="F4F7FA"/>
                    </a:solidFill>
                  </a:tcPr>
                </a:tc>
                <a:tc>
                  <a:txBody>
                    <a:bodyPr/>
                    <a:lstStyle/>
                    <a:p>
                      <a:r>
                        <a:rPr sz="1200" b="0" i="0">
                          <a:solidFill>
                            <a:srgbClr val="33475C"/>
                          </a:solidFill>
                          <a:latin typeface="Arial"/>
                        </a:rPr>
                        <a:t>No</a:t>
                      </a:r>
                    </a:p>
                  </a:txBody>
                  <a:tcPr marL="82296" marR="54864" marT="18288" marB="18288" anchor="ctr">
                    <a:solidFill>
                      <a:srgbClr val="F4F7FA"/>
                    </a:solidFill>
                  </a:tcPr>
                </a:tc>
              </a:tr>
              <a:tr h="502920">
                <a:tc>
                  <a:txBody>
                    <a:bodyPr/>
                    <a:lstStyle/>
                    <a:p>
                      <a:r>
                        <a:rPr sz="1140" b="0" i="0">
                          <a:solidFill>
                            <a:srgbClr val="2D6CDF"/>
                          </a:solidFill>
                          <a:latin typeface="Consolas"/>
                        </a:rPr>
                        <a:t>list_sources</a:t>
                      </a:r>
                    </a:p>
                  </a:txBody>
                  <a:tcPr marL="82296" marR="54864" marT="18288" marB="18288" anchor="ctr">
                    <a:solidFill>
                      <a:srgbClr val="FFFFFF"/>
                    </a:solidFill>
                  </a:tcPr>
                </a:tc>
                <a:tc>
                  <a:txBody>
                    <a:bodyPr/>
                    <a:lstStyle/>
                    <a:p>
                      <a:r>
                        <a:rPr sz="1200" b="0" i="0">
                          <a:solidFill>
                            <a:srgbClr val="33475C"/>
                          </a:solidFill>
                          <a:latin typeface="Arial"/>
                        </a:rPr>
                        <a:t>Says which sources exist and what they can do</a:t>
                      </a:r>
                    </a:p>
                  </a:txBody>
                  <a:tcPr marL="82296" marR="54864" marT="18288" marB="18288" anchor="ctr">
                    <a:solidFill>
                      <a:srgbClr val="FFFFFF"/>
                    </a:solidFill>
                  </a:tcPr>
                </a:tc>
                <a:tc>
                  <a:txBody>
                    <a:bodyPr/>
                    <a:lstStyle/>
                    <a:p>
                      <a:r>
                        <a:rPr sz="1200" b="0" i="0">
                          <a:solidFill>
                            <a:srgbClr val="33475C"/>
                          </a:solidFill>
                          <a:latin typeface="Arial"/>
                        </a:rPr>
                        <a:t>No</a:t>
                      </a:r>
                    </a:p>
                  </a:txBody>
                  <a:tcPr marL="82296" marR="54864" marT="18288" marB="18288" anchor="ctr">
                    <a:solidFill>
                      <a:srgbClr val="FFFFFF"/>
                    </a:solidFill>
                  </a:tcPr>
                </a:tc>
              </a:tr>
              <a:tr h="502920">
                <a:tc>
                  <a:txBody>
                    <a:bodyPr/>
                    <a:lstStyle/>
                    <a:p>
                      <a:r>
                        <a:rPr sz="1140" b="0" i="0">
                          <a:solidFill>
                            <a:srgbClr val="2D6CDF"/>
                          </a:solidFill>
                          <a:latin typeface="Consolas"/>
                        </a:rPr>
                        <a:t>get_document_link</a:t>
                      </a:r>
                    </a:p>
                  </a:txBody>
                  <a:tcPr marL="82296" marR="54864" marT="18288" marB="18288" anchor="ctr">
                    <a:solidFill>
                      <a:srgbClr val="F4F7FA"/>
                    </a:solidFill>
                  </a:tcPr>
                </a:tc>
                <a:tc>
                  <a:txBody>
                    <a:bodyPr/>
                    <a:lstStyle/>
                    <a:p>
                      <a:r>
                        <a:rPr sz="1200" b="0" i="0">
                          <a:solidFill>
                            <a:srgbClr val="33475C"/>
                          </a:solidFill>
                          <a:latin typeface="Arial"/>
                        </a:rPr>
                        <a:t>Turns a stored file path into a clickable link</a:t>
                      </a:r>
                    </a:p>
                  </a:txBody>
                  <a:tcPr marL="82296" marR="54864" marT="18288" marB="18288" anchor="ctr">
                    <a:solidFill>
                      <a:srgbClr val="F4F7FA"/>
                    </a:solidFill>
                  </a:tcPr>
                </a:tc>
                <a:tc>
                  <a:txBody>
                    <a:bodyPr/>
                    <a:lstStyle/>
                    <a:p>
                      <a:r>
                        <a:rPr sz="1200" b="0" i="0">
                          <a:solidFill>
                            <a:srgbClr val="33475C"/>
                          </a:solidFill>
                          <a:latin typeface="Arial"/>
                        </a:rPr>
                        <a:t>No</a:t>
                      </a:r>
                    </a:p>
                  </a:txBody>
                  <a:tcPr marL="82296" marR="54864" marT="18288" marB="18288" anchor="ctr">
                    <a:solidFill>
                      <a:srgbClr val="F4F7FA"/>
                    </a:solidFill>
                  </a:tcPr>
                </a:tc>
              </a:tr>
            </a:tbl>
          </a:graphicData>
        </a:graphic>
      </p:graphicFrame>
      <p:sp>
        <p:nvSpPr>
          <p:cNvPr id="7" name="TextBox 6"/>
          <p:cNvSpPr txBox="1"/>
          <p:nvPr/>
        </p:nvSpPr>
        <p:spPr>
          <a:xfrm>
            <a:off x="566928" y="5943600"/>
            <a:ext cx="11057839" cy="457200"/>
          </a:xfrm>
          <a:prstGeom prst="rect">
            <a:avLst/>
          </a:prstGeom>
          <a:noFill/>
        </p:spPr>
        <p:txBody>
          <a:bodyPr wrap="square" lIns="0" rIns="0" tIns="0" bIns="0">
            <a:spAutoFit/>
          </a:bodyPr>
          <a:lstStyle/>
          <a:p>
            <a:pPr algn="l"/>
            <a:r>
              <a:rPr sz="1150" b="0" i="0">
                <a:solidFill>
                  <a:srgbClr val="6B7C8C"/>
                </a:solidFill>
                <a:latin typeface="Arial"/>
              </a:rPr>
              <a:t>The tool descriptions are part of the design: they tell Claude when to use each tool, that it must include the citation links, and that confidentiality labels must be shown verbatim.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What happens when a question comes in</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11</a:t>
            </a:r>
          </a:p>
        </p:txBody>
      </p:sp>
      <p:sp>
        <p:nvSpPr>
          <p:cNvPr id="6" name="Rounded Rectangle 5"/>
          <p:cNvSpPr/>
          <p:nvPr/>
        </p:nvSpPr>
        <p:spPr>
          <a:xfrm>
            <a:off x="566928" y="1280160"/>
            <a:ext cx="457200" cy="548640"/>
          </a:xfrm>
          <a:prstGeom prst="roundRect">
            <a:avLst>
              <a:gd name="adj" fmla="val 20000"/>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1</a:t>
            </a:r>
          </a:p>
        </p:txBody>
      </p:sp>
      <p:sp>
        <p:nvSpPr>
          <p:cNvPr id="7" name="TextBox 6"/>
          <p:cNvSpPr txBox="1"/>
          <p:nvPr/>
        </p:nvSpPr>
        <p:spPr>
          <a:xfrm>
            <a:off x="1188720" y="1316736"/>
            <a:ext cx="1737360" cy="475488"/>
          </a:xfrm>
          <a:prstGeom prst="rect">
            <a:avLst/>
          </a:prstGeom>
          <a:noFill/>
        </p:spPr>
        <p:txBody>
          <a:bodyPr wrap="square" lIns="0" rIns="0" tIns="0" bIns="0" anchor="ctr">
            <a:spAutoFit/>
          </a:bodyPr>
          <a:lstStyle/>
          <a:p>
            <a:r>
              <a:rPr sz="1400" b="1" i="0">
                <a:solidFill>
                  <a:srgbClr val="0B1F33"/>
                </a:solidFill>
                <a:latin typeface="Arial"/>
              </a:rPr>
              <a:t>Plan</a:t>
            </a:r>
          </a:p>
        </p:txBody>
      </p:sp>
      <p:sp>
        <p:nvSpPr>
          <p:cNvPr id="8" name="TextBox 7"/>
          <p:cNvSpPr txBox="1"/>
          <p:nvPr/>
        </p:nvSpPr>
        <p:spPr>
          <a:xfrm>
            <a:off x="3035808" y="1280160"/>
            <a:ext cx="8549640" cy="548640"/>
          </a:xfrm>
          <a:prstGeom prst="rect">
            <a:avLst/>
          </a:prstGeom>
          <a:noFill/>
        </p:spPr>
        <p:txBody>
          <a:bodyPr wrap="square" lIns="0" rIns="0" tIns="0" bIns="0" anchor="ctr">
            <a:spAutoFit/>
          </a:bodyPr>
          <a:lstStyle/>
          <a:p>
            <a:r>
              <a:rPr sz="1250" b="0" i="0">
                <a:solidFill>
                  <a:srgbClr val="33475C"/>
                </a:solidFill>
                <a:latin typeface="Arial"/>
              </a:rPr>
              <a:t>Decide which sources are relevant and, for each, whether to search by meaning, by exact filter, or both.</a:t>
            </a:r>
          </a:p>
        </p:txBody>
      </p:sp>
      <p:sp>
        <p:nvSpPr>
          <p:cNvPr id="9" name="Rounded Rectangle 8"/>
          <p:cNvSpPr/>
          <p:nvPr/>
        </p:nvSpPr>
        <p:spPr>
          <a:xfrm>
            <a:off x="566928" y="1938528"/>
            <a:ext cx="457200" cy="548640"/>
          </a:xfrm>
          <a:prstGeom prst="roundRect">
            <a:avLst>
              <a:gd name="adj" fmla="val 20000"/>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2</a:t>
            </a:r>
          </a:p>
        </p:txBody>
      </p:sp>
      <p:sp>
        <p:nvSpPr>
          <p:cNvPr id="10" name="TextBox 9"/>
          <p:cNvSpPr txBox="1"/>
          <p:nvPr/>
        </p:nvSpPr>
        <p:spPr>
          <a:xfrm>
            <a:off x="1188720" y="1975104"/>
            <a:ext cx="1737360" cy="475488"/>
          </a:xfrm>
          <a:prstGeom prst="rect">
            <a:avLst/>
          </a:prstGeom>
          <a:noFill/>
        </p:spPr>
        <p:txBody>
          <a:bodyPr wrap="square" lIns="0" rIns="0" tIns="0" bIns="0" anchor="ctr">
            <a:spAutoFit/>
          </a:bodyPr>
          <a:lstStyle/>
          <a:p>
            <a:r>
              <a:rPr sz="1400" b="1" i="0">
                <a:solidFill>
                  <a:srgbClr val="0B1F33"/>
                </a:solidFill>
                <a:latin typeface="Arial"/>
              </a:rPr>
              <a:t>Understand</a:t>
            </a:r>
          </a:p>
        </p:txBody>
      </p:sp>
      <p:sp>
        <p:nvSpPr>
          <p:cNvPr id="11" name="TextBox 10"/>
          <p:cNvSpPr txBox="1"/>
          <p:nvPr/>
        </p:nvSpPr>
        <p:spPr>
          <a:xfrm>
            <a:off x="3035808" y="1938528"/>
            <a:ext cx="8549640" cy="548640"/>
          </a:xfrm>
          <a:prstGeom prst="rect">
            <a:avLst/>
          </a:prstGeom>
          <a:noFill/>
        </p:spPr>
        <p:txBody>
          <a:bodyPr wrap="square" lIns="0" rIns="0" tIns="0" bIns="0" anchor="ctr">
            <a:spAutoFit/>
          </a:bodyPr>
          <a:lstStyle/>
          <a:p>
            <a:r>
              <a:rPr sz="1250" b="0" i="0">
                <a:solidFill>
                  <a:srgbClr val="33475C"/>
                </a:solidFill>
                <a:latin typeface="Arial"/>
              </a:rPr>
              <a:t>Pull any real filter values out of the question — a client name, a country, a date range.</a:t>
            </a:r>
          </a:p>
        </p:txBody>
      </p:sp>
      <p:sp>
        <p:nvSpPr>
          <p:cNvPr id="12" name="Rounded Rectangle 11"/>
          <p:cNvSpPr/>
          <p:nvPr/>
        </p:nvSpPr>
        <p:spPr>
          <a:xfrm>
            <a:off x="566928" y="2596896"/>
            <a:ext cx="457200" cy="548640"/>
          </a:xfrm>
          <a:prstGeom prst="roundRect">
            <a:avLst>
              <a:gd name="adj" fmla="val 20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3</a:t>
            </a:r>
          </a:p>
        </p:txBody>
      </p:sp>
      <p:sp>
        <p:nvSpPr>
          <p:cNvPr id="13" name="TextBox 12"/>
          <p:cNvSpPr txBox="1"/>
          <p:nvPr/>
        </p:nvSpPr>
        <p:spPr>
          <a:xfrm>
            <a:off x="1188720" y="2633472"/>
            <a:ext cx="1737360" cy="475488"/>
          </a:xfrm>
          <a:prstGeom prst="rect">
            <a:avLst/>
          </a:prstGeom>
          <a:noFill/>
        </p:spPr>
        <p:txBody>
          <a:bodyPr wrap="square" lIns="0" rIns="0" tIns="0" bIns="0" anchor="ctr">
            <a:spAutoFit/>
          </a:bodyPr>
          <a:lstStyle/>
          <a:p>
            <a:r>
              <a:rPr sz="1400" b="1" i="0">
                <a:solidFill>
                  <a:srgbClr val="0B1F33"/>
                </a:solidFill>
                <a:latin typeface="Arial"/>
              </a:rPr>
              <a:t>Search</a:t>
            </a:r>
          </a:p>
        </p:txBody>
      </p:sp>
      <p:sp>
        <p:nvSpPr>
          <p:cNvPr id="14" name="TextBox 13"/>
          <p:cNvSpPr txBox="1"/>
          <p:nvPr/>
        </p:nvSpPr>
        <p:spPr>
          <a:xfrm>
            <a:off x="3035808" y="2596896"/>
            <a:ext cx="8549640" cy="548640"/>
          </a:xfrm>
          <a:prstGeom prst="rect">
            <a:avLst/>
          </a:prstGeom>
          <a:noFill/>
        </p:spPr>
        <p:txBody>
          <a:bodyPr wrap="square" lIns="0" rIns="0" tIns="0" bIns="0" anchor="ctr">
            <a:spAutoFit/>
          </a:bodyPr>
          <a:lstStyle/>
          <a:p>
            <a:r>
              <a:rPr sz="1250" b="0" i="0">
                <a:solidFill>
                  <a:srgbClr val="33475C"/>
                </a:solidFill>
                <a:latin typeface="Arial"/>
              </a:rPr>
              <a:t>Vector search and keyword search run </a:t>
            </a:r>
            <a:r>
              <a:rPr sz="1250" b="1" i="0">
                <a:solidFill>
                  <a:srgbClr val="0B1F33"/>
                </a:solidFill>
                <a:latin typeface="Arial"/>
              </a:rPr>
              <a:t>at the same time</a:t>
            </a:r>
            <a:r>
              <a:rPr sz="1250" b="0" i="0">
                <a:solidFill>
                  <a:srgbClr val="33475C"/>
                </a:solidFill>
                <a:latin typeface="Arial"/>
              </a:rPr>
              <a:t>, against the same filtered set.</a:t>
            </a:r>
          </a:p>
        </p:txBody>
      </p:sp>
      <p:sp>
        <p:nvSpPr>
          <p:cNvPr id="15" name="Rounded Rectangle 14"/>
          <p:cNvSpPr/>
          <p:nvPr/>
        </p:nvSpPr>
        <p:spPr>
          <a:xfrm>
            <a:off x="566928" y="3255264"/>
            <a:ext cx="457200" cy="548640"/>
          </a:xfrm>
          <a:prstGeom prst="roundRect">
            <a:avLst>
              <a:gd name="adj" fmla="val 20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4</a:t>
            </a:r>
          </a:p>
        </p:txBody>
      </p:sp>
      <p:sp>
        <p:nvSpPr>
          <p:cNvPr id="16" name="TextBox 15"/>
          <p:cNvSpPr txBox="1"/>
          <p:nvPr/>
        </p:nvSpPr>
        <p:spPr>
          <a:xfrm>
            <a:off x="1188720" y="3291840"/>
            <a:ext cx="1737360" cy="475488"/>
          </a:xfrm>
          <a:prstGeom prst="rect">
            <a:avLst/>
          </a:prstGeom>
          <a:noFill/>
        </p:spPr>
        <p:txBody>
          <a:bodyPr wrap="square" lIns="0" rIns="0" tIns="0" bIns="0" anchor="ctr">
            <a:spAutoFit/>
          </a:bodyPr>
          <a:lstStyle/>
          <a:p>
            <a:r>
              <a:rPr sz="1400" b="1" i="0">
                <a:solidFill>
                  <a:srgbClr val="0B1F33"/>
                </a:solidFill>
                <a:latin typeface="Arial"/>
              </a:rPr>
              <a:t>Combine</a:t>
            </a:r>
          </a:p>
        </p:txBody>
      </p:sp>
      <p:sp>
        <p:nvSpPr>
          <p:cNvPr id="17" name="TextBox 16"/>
          <p:cNvSpPr txBox="1"/>
          <p:nvPr/>
        </p:nvSpPr>
        <p:spPr>
          <a:xfrm>
            <a:off x="3035808" y="3255264"/>
            <a:ext cx="8549640" cy="548640"/>
          </a:xfrm>
          <a:prstGeom prst="rect">
            <a:avLst/>
          </a:prstGeom>
          <a:noFill/>
        </p:spPr>
        <p:txBody>
          <a:bodyPr wrap="square" lIns="0" rIns="0" tIns="0" bIns="0" anchor="ctr">
            <a:spAutoFit/>
          </a:bodyPr>
          <a:lstStyle/>
          <a:p>
            <a:r>
              <a:rPr sz="1250" b="0" i="0">
                <a:solidFill>
                  <a:srgbClr val="33475C"/>
                </a:solidFill>
                <a:latin typeface="Arial"/>
              </a:rPr>
              <a:t>The two result lists are merged by rank, then each match is swapped for its full parent text.</a:t>
            </a:r>
          </a:p>
        </p:txBody>
      </p:sp>
      <p:sp>
        <p:nvSpPr>
          <p:cNvPr id="18" name="Rounded Rectangle 17"/>
          <p:cNvSpPr/>
          <p:nvPr/>
        </p:nvSpPr>
        <p:spPr>
          <a:xfrm>
            <a:off x="566928" y="3913632"/>
            <a:ext cx="457200" cy="548640"/>
          </a:xfrm>
          <a:prstGeom prst="roundRect">
            <a:avLst>
              <a:gd name="adj" fmla="val 20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5</a:t>
            </a:r>
          </a:p>
        </p:txBody>
      </p:sp>
      <p:sp>
        <p:nvSpPr>
          <p:cNvPr id="19" name="TextBox 18"/>
          <p:cNvSpPr txBox="1"/>
          <p:nvPr/>
        </p:nvSpPr>
        <p:spPr>
          <a:xfrm>
            <a:off x="1188720" y="3950208"/>
            <a:ext cx="1737360" cy="475488"/>
          </a:xfrm>
          <a:prstGeom prst="rect">
            <a:avLst/>
          </a:prstGeom>
          <a:noFill/>
        </p:spPr>
        <p:txBody>
          <a:bodyPr wrap="square" lIns="0" rIns="0" tIns="0" bIns="0" anchor="ctr">
            <a:spAutoFit/>
          </a:bodyPr>
          <a:lstStyle/>
          <a:p>
            <a:r>
              <a:rPr sz="1400" b="1" i="0">
                <a:solidFill>
                  <a:srgbClr val="0B1F33"/>
                </a:solidFill>
                <a:latin typeface="Arial"/>
              </a:rPr>
              <a:t>Rerank</a:t>
            </a:r>
          </a:p>
        </p:txBody>
      </p:sp>
      <p:sp>
        <p:nvSpPr>
          <p:cNvPr id="20" name="TextBox 19"/>
          <p:cNvSpPr txBox="1"/>
          <p:nvPr/>
        </p:nvSpPr>
        <p:spPr>
          <a:xfrm>
            <a:off x="3035808" y="3913632"/>
            <a:ext cx="8549640" cy="548640"/>
          </a:xfrm>
          <a:prstGeom prst="rect">
            <a:avLst/>
          </a:prstGeom>
          <a:noFill/>
        </p:spPr>
        <p:txBody>
          <a:bodyPr wrap="square" lIns="0" rIns="0" tIns="0" bIns="0" anchor="ctr">
            <a:spAutoFit/>
          </a:bodyPr>
          <a:lstStyle/>
          <a:p>
            <a:r>
              <a:rPr sz="1250" b="0" i="0">
                <a:solidFill>
                  <a:srgbClr val="33475C"/>
                </a:solidFill>
                <a:latin typeface="Arial"/>
              </a:rPr>
              <a:t>A second, more accurate model re-scores the shortlist and puts the best answer on top.</a:t>
            </a:r>
          </a:p>
        </p:txBody>
      </p:sp>
      <p:sp>
        <p:nvSpPr>
          <p:cNvPr id="21" name="Rounded Rectangle 20"/>
          <p:cNvSpPr/>
          <p:nvPr/>
        </p:nvSpPr>
        <p:spPr>
          <a:xfrm>
            <a:off x="566928" y="4572000"/>
            <a:ext cx="457200" cy="548640"/>
          </a:xfrm>
          <a:prstGeom prst="roundRect">
            <a:avLst>
              <a:gd name="adj" fmla="val 20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6</a:t>
            </a:r>
          </a:p>
        </p:txBody>
      </p:sp>
      <p:sp>
        <p:nvSpPr>
          <p:cNvPr id="22" name="TextBox 21"/>
          <p:cNvSpPr txBox="1"/>
          <p:nvPr/>
        </p:nvSpPr>
        <p:spPr>
          <a:xfrm>
            <a:off x="1188720" y="4608576"/>
            <a:ext cx="1737360" cy="475488"/>
          </a:xfrm>
          <a:prstGeom prst="rect">
            <a:avLst/>
          </a:prstGeom>
          <a:noFill/>
        </p:spPr>
        <p:txBody>
          <a:bodyPr wrap="square" lIns="0" rIns="0" tIns="0" bIns="0" anchor="ctr">
            <a:spAutoFit/>
          </a:bodyPr>
          <a:lstStyle/>
          <a:p>
            <a:r>
              <a:rPr sz="1400" b="1" i="0">
                <a:solidFill>
                  <a:srgbClr val="0B1F33"/>
                </a:solidFill>
                <a:latin typeface="Arial"/>
              </a:rPr>
              <a:t>Tidy up</a:t>
            </a:r>
          </a:p>
        </p:txBody>
      </p:sp>
      <p:sp>
        <p:nvSpPr>
          <p:cNvPr id="23" name="TextBox 22"/>
          <p:cNvSpPr txBox="1"/>
          <p:nvPr/>
        </p:nvSpPr>
        <p:spPr>
          <a:xfrm>
            <a:off x="3035808" y="4572000"/>
            <a:ext cx="8549640" cy="548640"/>
          </a:xfrm>
          <a:prstGeom prst="rect">
            <a:avLst/>
          </a:prstGeom>
          <a:noFill/>
        </p:spPr>
        <p:txBody>
          <a:bodyPr wrap="square" lIns="0" rIns="0" tIns="0" bIns="0" anchor="ctr">
            <a:spAutoFit/>
          </a:bodyPr>
          <a:lstStyle/>
          <a:p>
            <a:r>
              <a:rPr sz="1250" b="0" i="0">
                <a:solidFill>
                  <a:srgbClr val="33475C"/>
                </a:solidFill>
                <a:latin typeface="Arial"/>
              </a:rPr>
              <a:t>One result per person or project, then attach the document and project summaries for context.</a:t>
            </a:r>
          </a:p>
        </p:txBody>
      </p:sp>
      <p:sp>
        <p:nvSpPr>
          <p:cNvPr id="24" name="Rounded Rectangle 23"/>
          <p:cNvSpPr/>
          <p:nvPr/>
        </p:nvSpPr>
        <p:spPr>
          <a:xfrm>
            <a:off x="566928" y="5230368"/>
            <a:ext cx="457200" cy="548640"/>
          </a:xfrm>
          <a:prstGeom prst="roundRect">
            <a:avLst>
              <a:gd name="adj" fmla="val 20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Arial"/>
              </a:rPr>
              <a:t>7</a:t>
            </a:r>
          </a:p>
        </p:txBody>
      </p:sp>
      <p:sp>
        <p:nvSpPr>
          <p:cNvPr id="25" name="TextBox 24"/>
          <p:cNvSpPr txBox="1"/>
          <p:nvPr/>
        </p:nvSpPr>
        <p:spPr>
          <a:xfrm>
            <a:off x="1188720" y="5266944"/>
            <a:ext cx="1737360" cy="475488"/>
          </a:xfrm>
          <a:prstGeom prst="rect">
            <a:avLst/>
          </a:prstGeom>
          <a:noFill/>
        </p:spPr>
        <p:txBody>
          <a:bodyPr wrap="square" lIns="0" rIns="0" tIns="0" bIns="0" anchor="ctr">
            <a:spAutoFit/>
          </a:bodyPr>
          <a:lstStyle/>
          <a:p>
            <a:r>
              <a:rPr sz="1400" b="1" i="0">
                <a:solidFill>
                  <a:srgbClr val="0B1F33"/>
                </a:solidFill>
                <a:latin typeface="Arial"/>
              </a:rPr>
              <a:t>Return</a:t>
            </a:r>
          </a:p>
        </p:txBody>
      </p:sp>
      <p:sp>
        <p:nvSpPr>
          <p:cNvPr id="26" name="TextBox 25"/>
          <p:cNvSpPr txBox="1"/>
          <p:nvPr/>
        </p:nvSpPr>
        <p:spPr>
          <a:xfrm>
            <a:off x="3035808" y="5230368"/>
            <a:ext cx="8549640" cy="548640"/>
          </a:xfrm>
          <a:prstGeom prst="rect">
            <a:avLst/>
          </a:prstGeom>
          <a:noFill/>
        </p:spPr>
        <p:txBody>
          <a:bodyPr wrap="square" lIns="0" rIns="0" tIns="0" bIns="0" anchor="ctr">
            <a:spAutoFit/>
          </a:bodyPr>
          <a:lstStyle/>
          <a:p>
            <a:r>
              <a:rPr sz="1250" b="0" i="0">
                <a:solidFill>
                  <a:srgbClr val="33475C"/>
                </a:solidFill>
                <a:latin typeface="Arial"/>
              </a:rPr>
              <a:t>Add structured fields from Airtable, mint a link for every hit, and hand it all back to Claude.</a:t>
            </a:r>
          </a:p>
        </p:txBody>
      </p:sp>
      <p:sp>
        <p:nvSpPr>
          <p:cNvPr id="27" name="TextBox 26"/>
          <p:cNvSpPr txBox="1"/>
          <p:nvPr/>
        </p:nvSpPr>
        <p:spPr>
          <a:xfrm>
            <a:off x="566928" y="5943600"/>
            <a:ext cx="11057839" cy="365760"/>
          </a:xfrm>
          <a:prstGeom prst="rect">
            <a:avLst/>
          </a:prstGeom>
          <a:noFill/>
        </p:spPr>
        <p:txBody>
          <a:bodyPr wrap="square" lIns="0" rIns="0" tIns="0" bIns="0">
            <a:spAutoFit/>
          </a:bodyPr>
          <a:lstStyle/>
          <a:p>
            <a:pPr algn="l"/>
            <a:r>
              <a:rPr sz="1200" b="0" i="0">
                <a:solidFill>
                  <a:srgbClr val="6B7C8C"/>
                </a:solidFill>
                <a:latin typeface="Arial"/>
              </a:rPr>
              <a:t>Sources are handled concurrently, so asking across four sources takes about as long as asking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Query understanding</a:t>
            </a:r>
          </a:p>
          <a:p>
            <a:pPr>
              <a:spcBef>
                <a:spcPts val="200"/>
              </a:spcBef>
            </a:pPr>
            <a:r>
              <a:rPr sz="1150" b="0" i="0">
                <a:solidFill>
                  <a:srgbClr val="9FB6CC"/>
                </a:solidFill>
                <a:latin typeface="Arial"/>
              </a:rPr>
              <a:t>Two guards against a model inventing search parameters</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12</a:t>
            </a:r>
          </a:p>
        </p:txBody>
      </p:sp>
      <p:sp>
        <p:nvSpPr>
          <p:cNvPr id="6" name="Rounded Rectangle 5"/>
          <p:cNvSpPr/>
          <p:nvPr/>
        </p:nvSpPr>
        <p:spPr>
          <a:xfrm>
            <a:off x="566928" y="1234440"/>
            <a:ext cx="5715000" cy="26517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34440"/>
            <a:ext cx="50292" cy="265176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53312"/>
            <a:ext cx="5394960" cy="2432304"/>
          </a:xfrm>
          <a:prstGeom prst="rect">
            <a:avLst/>
          </a:prstGeom>
          <a:noFill/>
        </p:spPr>
        <p:txBody>
          <a:bodyPr wrap="square" lIns="0" rIns="0" tIns="0" bIns="0">
            <a:spAutoFit/>
          </a:bodyPr>
          <a:lstStyle/>
          <a:p>
            <a:pPr>
              <a:spcAft>
                <a:spcPts val="600"/>
              </a:spcAft>
            </a:pPr>
            <a:r>
              <a:rPr sz="1350" b="1" i="0">
                <a:solidFill>
                  <a:srgbClr val="0B1F33"/>
                </a:solidFill>
                <a:latin typeface="Arial"/>
              </a:rPr>
              <a:t>Planning — what to do</a:t>
            </a:r>
          </a:p>
          <a:p>
            <a:pPr>
              <a:spcAft>
                <a:spcPts val="400"/>
              </a:spcAft>
            </a:pPr>
            <a:r>
              <a:rPr sz="1250" b="1" i="0">
                <a:solidFill>
                  <a:srgbClr val="0B1F33"/>
                </a:solidFill>
                <a:latin typeface="Arial"/>
              </a:rPr>
              <a:t>Rules first.</a:t>
            </a:r>
            <a:r>
              <a:rPr sz="1250" b="0" i="0">
                <a:solidFill>
                  <a:srgbClr val="33475C"/>
                </a:solidFill>
                <a:latin typeface="Arial"/>
              </a:rPr>
              <a:t> Simple literal questions — "who speaks French", "who plays guitar" — are recognised by pattern and turned straight into an exact lookup. No AI call at all.</a:t>
            </a:r>
          </a:p>
          <a:p>
            <a:pPr>
              <a:spcAft>
                <a:spcPts val="400"/>
              </a:spcAft>
            </a:pPr>
            <a:r>
              <a:rPr sz="1250" b="1" i="0">
                <a:solidFill>
                  <a:srgbClr val="0B1F33"/>
                </a:solidFill>
                <a:latin typeface="Arial"/>
              </a:rPr>
              <a:t>Then the model.</a:t>
            </a:r>
            <a:r>
              <a:rPr sz="1250" b="0" i="0">
                <a:solidFill>
                  <a:srgbClr val="33475C"/>
                </a:solidFill>
                <a:latin typeface="Arial"/>
              </a:rPr>
              <a:t> Anything else goes to Claude with the source's real field list, and comes back as: which mode, which filter, what to search for.</a:t>
            </a:r>
          </a:p>
          <a:p>
            <a:pPr>
              <a:spcAft>
                <a:spcPts val="400"/>
              </a:spcAft>
            </a:pPr>
            <a:r>
              <a:rPr sz="1250" b="1" i="0">
                <a:solidFill>
                  <a:srgbClr val="0B1F33"/>
                </a:solidFill>
                <a:latin typeface="Arial"/>
              </a:rPr>
              <a:t>Guarded.</a:t>
            </a:r>
            <a:r>
              <a:rPr sz="1250" b="0" i="0">
                <a:solidFill>
                  <a:srgbClr val="33475C"/>
                </a:solidFill>
                <a:latin typeface="Arial"/>
              </a:rPr>
              <a:t> A filter referencing a field that doesn't exist is rejected outright, and result counts are capped so a plan can't fetch a whole table.</a:t>
            </a:r>
          </a:p>
        </p:txBody>
      </p:sp>
      <p:sp>
        <p:nvSpPr>
          <p:cNvPr id="9" name="Rounded Rectangle 8"/>
          <p:cNvSpPr/>
          <p:nvPr/>
        </p:nvSpPr>
        <p:spPr>
          <a:xfrm>
            <a:off x="6556248" y="1234440"/>
            <a:ext cx="5056632" cy="26517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56248" y="1234440"/>
            <a:ext cx="50292" cy="265176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9128" y="1353312"/>
            <a:ext cx="4736592" cy="2432304"/>
          </a:xfrm>
          <a:prstGeom prst="rect">
            <a:avLst/>
          </a:prstGeom>
          <a:noFill/>
        </p:spPr>
        <p:txBody>
          <a:bodyPr wrap="square" lIns="0" rIns="0" tIns="0" bIns="0">
            <a:spAutoFit/>
          </a:bodyPr>
          <a:lstStyle/>
          <a:p>
            <a:pPr>
              <a:spcAft>
                <a:spcPts val="600"/>
              </a:spcAft>
            </a:pPr>
            <a:r>
              <a:rPr sz="1350" b="1" i="0">
                <a:solidFill>
                  <a:srgbClr val="0B1F33"/>
                </a:solidFill>
                <a:latin typeface="Arial"/>
              </a:rPr>
              <a:t>Facets — what to filter on</a:t>
            </a:r>
          </a:p>
          <a:p>
            <a:pPr>
              <a:spcAft>
                <a:spcPts val="400"/>
              </a:spcAft>
            </a:pPr>
            <a:r>
              <a:rPr sz="1250" b="1" i="0">
                <a:solidFill>
                  <a:srgbClr val="0B1F33"/>
                </a:solidFill>
                <a:latin typeface="Arial"/>
              </a:rPr>
              <a:t>The trap:</a:t>
            </a:r>
            <a:r>
              <a:rPr sz="1250" b="0" i="0">
                <a:solidFill>
                  <a:srgbClr val="33475C"/>
                </a:solidFill>
                <a:latin typeface="Arial"/>
              </a:rPr>
              <a:t> if a model invents a filter value — "East-Africa", "Gates Fdn" — the search matches nothing, *nothing errors*, and the answer is silently empty.</a:t>
            </a:r>
          </a:p>
          <a:p>
            <a:pPr>
              <a:spcAft>
                <a:spcPts val="400"/>
              </a:spcAft>
            </a:pPr>
            <a:r>
              <a:rPr sz="1250" b="1" i="0">
                <a:solidFill>
                  <a:srgbClr val="0B1F33"/>
                </a:solidFill>
                <a:latin typeface="Arial"/>
              </a:rPr>
              <a:t>The fix:</a:t>
            </a:r>
            <a:r>
              <a:rPr sz="1250" b="0" i="0">
                <a:solidFill>
                  <a:srgbClr val="33475C"/>
                </a:solidFill>
                <a:latin typeface="Arial"/>
              </a:rPr>
              <a:t> we read the values that actually exist in the index and only match against those. A filter can never name a value that isn't in the data.</a:t>
            </a:r>
          </a:p>
        </p:txBody>
      </p:sp>
      <p:sp>
        <p:nvSpPr>
          <p:cNvPr id="12" name="Rounded Rectangle 11"/>
          <p:cNvSpPr/>
          <p:nvPr/>
        </p:nvSpPr>
        <p:spPr>
          <a:xfrm>
            <a:off x="566928" y="4069080"/>
            <a:ext cx="11057839" cy="210312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4069080"/>
            <a:ext cx="50292" cy="210312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4187952"/>
            <a:ext cx="10737799" cy="1883664"/>
          </a:xfrm>
          <a:prstGeom prst="rect">
            <a:avLst/>
          </a:prstGeom>
          <a:noFill/>
        </p:spPr>
        <p:txBody>
          <a:bodyPr wrap="square" lIns="0" rIns="0" tIns="0" bIns="0">
            <a:spAutoFit/>
          </a:bodyPr>
          <a:lstStyle/>
          <a:p>
            <a:pPr>
              <a:spcAft>
                <a:spcPts val="600"/>
              </a:spcAft>
            </a:pPr>
            <a:r>
              <a:rPr sz="1350" b="1" i="0">
                <a:solidFill>
                  <a:srgbClr val="0B1F33"/>
                </a:solidFill>
                <a:latin typeface="Arial"/>
              </a:rPr>
              <a:t>Not every match should become a filter</a:t>
            </a:r>
          </a:p>
          <a:p>
            <a:pPr>
              <a:spcAft>
                <a:spcPts val="400"/>
              </a:spcAft>
            </a:pPr>
            <a:r>
              <a:rPr sz="1250" b="0" i="0">
                <a:solidFill>
                  <a:srgbClr val="33475C"/>
                </a:solidFill>
                <a:latin typeface="Arial"/>
              </a:rPr>
              <a:t>*"financial inclusion work in East Africa for the Gates Foundation"* →  </a:t>
            </a:r>
            <a:r>
              <a:rPr sz="1250" b="1" i="0">
                <a:solidFill>
                  <a:srgbClr val="0B1F33"/>
                </a:solidFill>
                <a:latin typeface="Arial"/>
              </a:rPr>
              <a:t>East Africa</a:t>
            </a:r>
            <a:r>
              <a:rPr sz="1250" b="0" i="0">
                <a:solidFill>
                  <a:srgbClr val="33475C"/>
                </a:solidFill>
                <a:latin typeface="Arial"/>
              </a:rPr>
              <a:t> and </a:t>
            </a:r>
            <a:r>
              <a:rPr sz="1250" b="1" i="0">
                <a:solidFill>
                  <a:srgbClr val="0B1F33"/>
                </a:solidFill>
                <a:latin typeface="Arial"/>
              </a:rPr>
              <a:t>Gates Foundation</a:t>
            </a:r>
            <a:r>
              <a:rPr sz="1250" b="0" i="0">
                <a:solidFill>
                  <a:srgbClr val="33475C"/>
                </a:solidFill>
                <a:latin typeface="Arial"/>
              </a:rPr>
              <a:t> are hard facts, so they filter the search.</a:t>
            </a:r>
          </a:p>
          <a:p>
            <a:pPr>
              <a:spcAft>
                <a:spcPts val="400"/>
              </a:spcAft>
            </a:pPr>
            <a:r>
              <a:rPr sz="1250" b="1" i="0">
                <a:solidFill>
                  <a:srgbClr val="0B1F33"/>
                </a:solidFill>
                <a:latin typeface="Arial"/>
              </a:rPr>
              <a:t>Financial Inclusion</a:t>
            </a:r>
            <a:r>
              <a:rPr sz="1250" b="0" i="0">
                <a:solidFill>
                  <a:srgbClr val="33475C"/>
                </a:solidFill>
                <a:latin typeface="Arial"/>
              </a:rPr>
              <a:t> is a practice-area tag — and tags are fuzzy. The same project could equally be filed under *Strategy*. Filtering on it would silently drop correct results, so it is noticed but deliberately </a:t>
            </a:r>
            <a:r>
              <a:rPr sz="1250" b="1" i="0">
                <a:solidFill>
                  <a:srgbClr val="0B1F33"/>
                </a:solidFill>
                <a:latin typeface="Arial"/>
              </a:rPr>
              <a:t>not</a:t>
            </a:r>
            <a:r>
              <a:rPr sz="1250" b="0" i="0">
                <a:solidFill>
                  <a:srgbClr val="33475C"/>
                </a:solidFill>
                <a:latin typeface="Arial"/>
              </a:rPr>
              <a:t> applied; the search and the reranker handle the topic instead.</a:t>
            </a:r>
          </a:p>
          <a:p>
            <a:pPr>
              <a:spcAft>
                <a:spcPts val="400"/>
              </a:spcAft>
            </a:pPr>
            <a:r>
              <a:rPr sz="1250" b="0" i="0">
                <a:solidFill>
                  <a:srgbClr val="33475C"/>
                </a:solidFill>
                <a:latin typeface="Arial"/>
              </a:rPr>
              <a:t>That hard-versus-soft split is the difference between a filter that sharpens results and one that quietly hides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How the search itself works</a:t>
            </a:r>
          </a:p>
          <a:p>
            <a:pPr>
              <a:spcBef>
                <a:spcPts val="200"/>
              </a:spcBef>
            </a:pPr>
            <a:r>
              <a:rPr sz="1150" b="0" i="0">
                <a:solidFill>
                  <a:srgbClr val="9FB6CC"/>
                </a:solidFill>
                <a:latin typeface="Arial"/>
              </a:rPr>
              <a:t>Two searches, merged, then re-scored</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13</a:t>
            </a:r>
          </a:p>
        </p:txBody>
      </p:sp>
      <p:sp>
        <p:nvSpPr>
          <p:cNvPr id="6" name="Rounded Rectangle 5"/>
          <p:cNvSpPr/>
          <p:nvPr/>
        </p:nvSpPr>
        <p:spPr>
          <a:xfrm>
            <a:off x="566928" y="1234440"/>
            <a:ext cx="5715000" cy="19659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34440"/>
            <a:ext cx="50292" cy="196596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53312"/>
            <a:ext cx="5394960" cy="1746504"/>
          </a:xfrm>
          <a:prstGeom prst="rect">
            <a:avLst/>
          </a:prstGeom>
          <a:noFill/>
        </p:spPr>
        <p:txBody>
          <a:bodyPr wrap="square" lIns="0" rIns="0" tIns="0" bIns="0">
            <a:spAutoFit/>
          </a:bodyPr>
          <a:lstStyle/>
          <a:p>
            <a:pPr>
              <a:spcAft>
                <a:spcPts val="600"/>
              </a:spcAft>
            </a:pPr>
            <a:r>
              <a:rPr sz="1350" b="1" i="0">
                <a:solidFill>
                  <a:srgbClr val="0B1F33"/>
                </a:solidFill>
                <a:latin typeface="Arial"/>
              </a:rPr>
              <a:t>Vector search — meaning</a:t>
            </a:r>
          </a:p>
          <a:p>
            <a:pPr>
              <a:spcAft>
                <a:spcPts val="400"/>
              </a:spcAft>
            </a:pPr>
            <a:r>
              <a:rPr sz="1250" b="0" i="0">
                <a:solidFill>
                  <a:srgbClr val="33475C"/>
                </a:solidFill>
                <a:latin typeface="Arial"/>
              </a:rPr>
              <a:t>The question becomes a vector and we find the nearest chunks.</a:t>
            </a:r>
          </a:p>
          <a:p>
            <a:pPr>
              <a:spcAft>
                <a:spcPts val="400"/>
              </a:spcAft>
            </a:pPr>
            <a:r>
              <a:rPr sz="1250" b="0" i="0">
                <a:solidFill>
                  <a:srgbClr val="33475C"/>
                </a:solidFill>
                <a:latin typeface="Arial"/>
              </a:rPr>
              <a:t>Good at: *"who has worked on smallholder finance"* — where the document never uses those exact words.</a:t>
            </a:r>
          </a:p>
          <a:p>
            <a:pPr>
              <a:spcAft>
                <a:spcPts val="400"/>
              </a:spcAft>
            </a:pPr>
            <a:r>
              <a:rPr sz="1250" b="0" i="0">
                <a:solidFill>
                  <a:srgbClr val="33475C"/>
                </a:solidFill>
                <a:latin typeface="Arial"/>
              </a:rPr>
              <a:t>Weak at: exact names, codes and acronyms.</a:t>
            </a:r>
          </a:p>
        </p:txBody>
      </p:sp>
      <p:sp>
        <p:nvSpPr>
          <p:cNvPr id="9" name="Rounded Rectangle 8"/>
          <p:cNvSpPr/>
          <p:nvPr/>
        </p:nvSpPr>
        <p:spPr>
          <a:xfrm>
            <a:off x="6556248" y="1234440"/>
            <a:ext cx="5056632" cy="19659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56248" y="1234440"/>
            <a:ext cx="50292" cy="196596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9128" y="1353312"/>
            <a:ext cx="4736592" cy="1746504"/>
          </a:xfrm>
          <a:prstGeom prst="rect">
            <a:avLst/>
          </a:prstGeom>
          <a:noFill/>
        </p:spPr>
        <p:txBody>
          <a:bodyPr wrap="square" lIns="0" rIns="0" tIns="0" bIns="0">
            <a:spAutoFit/>
          </a:bodyPr>
          <a:lstStyle/>
          <a:p>
            <a:pPr>
              <a:spcAft>
                <a:spcPts val="600"/>
              </a:spcAft>
            </a:pPr>
            <a:r>
              <a:rPr sz="1350" b="1" i="0">
                <a:solidFill>
                  <a:srgbClr val="0B1F33"/>
                </a:solidFill>
                <a:latin typeface="Arial"/>
              </a:rPr>
              <a:t>Keyword search — exact words</a:t>
            </a:r>
          </a:p>
          <a:p>
            <a:pPr>
              <a:spcAft>
                <a:spcPts val="400"/>
              </a:spcAft>
            </a:pPr>
            <a:r>
              <a:rPr sz="1250" b="0" i="0">
                <a:solidFill>
                  <a:srgbClr val="33475C"/>
                </a:solidFill>
                <a:latin typeface="Arial"/>
              </a:rPr>
              <a:t>Classic text matching, with phrases scored higher than loose words.</a:t>
            </a:r>
          </a:p>
          <a:p>
            <a:pPr>
              <a:spcAft>
                <a:spcPts val="400"/>
              </a:spcAft>
            </a:pPr>
            <a:r>
              <a:rPr sz="1250" b="0" i="0">
                <a:solidFill>
                  <a:srgbClr val="33475C"/>
                </a:solidFill>
                <a:latin typeface="Arial"/>
              </a:rPr>
              <a:t>Good at: client names, place names, acronyms.</a:t>
            </a:r>
          </a:p>
          <a:p>
            <a:pPr>
              <a:spcAft>
                <a:spcPts val="400"/>
              </a:spcAft>
            </a:pPr>
            <a:r>
              <a:rPr sz="1250" b="0" i="0">
                <a:solidFill>
                  <a:srgbClr val="33475C"/>
                </a:solidFill>
                <a:latin typeface="Arial"/>
              </a:rPr>
              <a:t>Weak at: anything phrased differently from the source.</a:t>
            </a:r>
          </a:p>
        </p:txBody>
      </p:sp>
      <p:sp>
        <p:nvSpPr>
          <p:cNvPr id="12" name="Rounded Rectangle 11"/>
          <p:cNvSpPr/>
          <p:nvPr/>
        </p:nvSpPr>
        <p:spPr>
          <a:xfrm>
            <a:off x="566928" y="3383280"/>
            <a:ext cx="11057839" cy="13716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3383280"/>
            <a:ext cx="50292" cy="137160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3502152"/>
            <a:ext cx="10737799" cy="1152144"/>
          </a:xfrm>
          <a:prstGeom prst="rect">
            <a:avLst/>
          </a:prstGeom>
          <a:noFill/>
        </p:spPr>
        <p:txBody>
          <a:bodyPr wrap="square" lIns="0" rIns="0" tIns="0" bIns="0">
            <a:spAutoFit/>
          </a:bodyPr>
          <a:lstStyle/>
          <a:p>
            <a:pPr>
              <a:spcAft>
                <a:spcPts val="600"/>
              </a:spcAft>
            </a:pPr>
            <a:r>
              <a:rPr sz="1350" b="1" i="0">
                <a:solidFill>
                  <a:srgbClr val="0B1F33"/>
                </a:solidFill>
                <a:latin typeface="Arial"/>
              </a:rPr>
              <a:t>Merging them — rank fusion</a:t>
            </a:r>
          </a:p>
          <a:p>
            <a:pPr>
              <a:spcAft>
                <a:spcPts val="400"/>
              </a:spcAft>
            </a:pPr>
            <a:r>
              <a:rPr sz="1250" b="0" i="0">
                <a:solidFill>
                  <a:srgbClr val="33475C"/>
                </a:solidFill>
                <a:latin typeface="Arial"/>
              </a:rPr>
              <a:t>The two ranked lists are combined using each result's </a:t>
            </a:r>
            <a:r>
              <a:rPr sz="1250" b="1" i="0">
                <a:solidFill>
                  <a:srgbClr val="0B1F33"/>
                </a:solidFill>
                <a:latin typeface="Arial"/>
              </a:rPr>
              <a:t>position</a:t>
            </a:r>
            <a:r>
              <a:rPr sz="1250" b="0" i="0">
                <a:solidFill>
                  <a:srgbClr val="33475C"/>
                </a:solidFill>
                <a:latin typeface="Arial"/>
              </a:rPr>
              <a:t>, not its score. That matters: a similarity score and a keyword score aren't on the same scale, so there's nothing to normalise and no weights to tune or drift.</a:t>
            </a:r>
          </a:p>
        </p:txBody>
      </p:sp>
      <p:sp>
        <p:nvSpPr>
          <p:cNvPr id="15" name="Rounded Rectangle 14"/>
          <p:cNvSpPr/>
          <p:nvPr/>
        </p:nvSpPr>
        <p:spPr>
          <a:xfrm>
            <a:off x="566928" y="4937760"/>
            <a:ext cx="11057839" cy="12344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937760"/>
            <a:ext cx="50292" cy="123444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9808" y="5056632"/>
            <a:ext cx="10737799" cy="1014984"/>
          </a:xfrm>
          <a:prstGeom prst="rect">
            <a:avLst/>
          </a:prstGeom>
          <a:noFill/>
        </p:spPr>
        <p:txBody>
          <a:bodyPr wrap="square" lIns="0" rIns="0" tIns="0" bIns="0">
            <a:spAutoFit/>
          </a:bodyPr>
          <a:lstStyle/>
          <a:p>
            <a:pPr>
              <a:spcAft>
                <a:spcPts val="600"/>
              </a:spcAft>
            </a:pPr>
            <a:r>
              <a:rPr sz="1350" b="1" i="0">
                <a:solidFill>
                  <a:srgbClr val="0B1F33"/>
                </a:solidFill>
                <a:latin typeface="Arial"/>
              </a:rPr>
              <a:t>Then a reranker makes the final call</a:t>
            </a:r>
          </a:p>
          <a:p>
            <a:pPr>
              <a:spcAft>
                <a:spcPts val="400"/>
              </a:spcAft>
            </a:pPr>
            <a:r>
              <a:rPr sz="1250" b="0" i="0">
                <a:solidFill>
                  <a:srgbClr val="33475C"/>
                </a:solidFill>
                <a:latin typeface="Arial"/>
              </a:rPr>
              <a:t>A second model (</a:t>
            </a:r>
            <a:r>
              <a:rPr sz="1190" b="0" i="0">
                <a:solidFill>
                  <a:srgbClr val="2D6CDF"/>
                </a:solidFill>
                <a:latin typeface="Consolas"/>
              </a:rPr>
              <a:t>rerank-2.5</a:t>
            </a:r>
            <a:r>
              <a:rPr sz="1250" b="0" i="0">
                <a:solidFill>
                  <a:srgbClr val="33475C"/>
                </a:solidFill>
                <a:latin typeface="Arial"/>
              </a:rPr>
              <a:t>) reads the question and each shortlisted passage </a:t>
            </a:r>
            <a:r>
              <a:rPr sz="1250" b="1" i="0">
                <a:solidFill>
                  <a:srgbClr val="0B1F33"/>
                </a:solidFill>
                <a:latin typeface="Arial"/>
              </a:rPr>
              <a:t>together</a:t>
            </a:r>
            <a:r>
              <a:rPr sz="1250" b="0" i="0">
                <a:solidFill>
                  <a:srgbClr val="33475C"/>
                </a:solidFill>
                <a:latin typeface="Arial"/>
              </a:rPr>
              <a:t> and re-scores them. It is slower and far more accurate than vector search, which is why it runs on a shortlist rather than the whole index — and why the first two searches are tuned for recall, not precision.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Grounding the answer</a:t>
            </a:r>
          </a:p>
          <a:p>
            <a:pPr>
              <a:spcBef>
                <a:spcPts val="200"/>
              </a:spcBef>
            </a:pPr>
            <a:r>
              <a:rPr sz="1150" b="0" i="0">
                <a:solidFill>
                  <a:srgbClr val="9FB6CC"/>
                </a:solidFill>
                <a:latin typeface="Arial"/>
              </a:rPr>
              <a:t>Every claim traceable to a document</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14</a:t>
            </a:r>
          </a:p>
        </p:txBody>
      </p:sp>
      <p:sp>
        <p:nvSpPr>
          <p:cNvPr id="6" name="Rounded Rectangle 5"/>
          <p:cNvSpPr/>
          <p:nvPr/>
        </p:nvSpPr>
        <p:spPr>
          <a:xfrm>
            <a:off x="566928" y="1234440"/>
            <a:ext cx="5715000" cy="26517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34440"/>
            <a:ext cx="50292" cy="265176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53312"/>
            <a:ext cx="5394960" cy="2432304"/>
          </a:xfrm>
          <a:prstGeom prst="rect">
            <a:avLst/>
          </a:prstGeom>
          <a:noFill/>
        </p:spPr>
        <p:txBody>
          <a:bodyPr wrap="square" lIns="0" rIns="0" tIns="0" bIns="0">
            <a:spAutoFit/>
          </a:bodyPr>
          <a:lstStyle/>
          <a:p>
            <a:pPr>
              <a:spcAft>
                <a:spcPts val="600"/>
              </a:spcAft>
            </a:pPr>
            <a:r>
              <a:rPr sz="1350" b="1" i="0">
                <a:solidFill>
                  <a:srgbClr val="0B1F33"/>
                </a:solidFill>
                <a:latin typeface="Arial"/>
              </a:rPr>
              <a:t>Citations</a:t>
            </a:r>
          </a:p>
          <a:p>
            <a:pPr>
              <a:spcAft>
                <a:spcPts val="400"/>
              </a:spcAft>
            </a:pPr>
            <a:r>
              <a:rPr sz="1250" b="0" i="0">
                <a:solidFill>
                  <a:srgbClr val="33475C"/>
                </a:solidFill>
                <a:latin typeface="Arial"/>
              </a:rPr>
              <a:t>Every hit carries a link to the </a:t>
            </a:r>
            <a:r>
              <a:rPr sz="1250" b="1" i="0">
                <a:solidFill>
                  <a:srgbClr val="0B1F33"/>
                </a:solidFill>
                <a:latin typeface="Arial"/>
              </a:rPr>
              <a:t>original document</a:t>
            </a:r>
            <a:r>
              <a:rPr sz="1250" b="0" i="0">
                <a:solidFill>
                  <a:srgbClr val="33475C"/>
                </a:solidFill>
                <a:latin typeface="Arial"/>
              </a:rPr>
              <a:t> — the actual PPTX or PDF, not the extracted text.</a:t>
            </a:r>
          </a:p>
          <a:p>
            <a:pPr>
              <a:spcAft>
                <a:spcPts val="400"/>
              </a:spcAft>
            </a:pPr>
            <a:r>
              <a:rPr sz="1250" b="0" i="0">
                <a:solidFill>
                  <a:srgbClr val="33475C"/>
                </a:solidFill>
                <a:latin typeface="Arial"/>
              </a:rPr>
              <a:t>Links are short, expire, and are scoped to a single file. Each click re-signs a fresh URL, so links don't rot when server credentials rotate.</a:t>
            </a:r>
          </a:p>
          <a:p>
            <a:pPr>
              <a:spcAft>
                <a:spcPts val="400"/>
              </a:spcAft>
            </a:pPr>
            <a:r>
              <a:rPr sz="1250" b="1" i="0">
                <a:solidFill>
                  <a:srgbClr val="0B1F33"/>
                </a:solidFill>
                <a:latin typeface="Arial"/>
              </a:rPr>
              <a:t>Airtable record links are deliberately stripped</a:t>
            </a:r>
            <a:r>
              <a:rPr sz="1250" b="0" i="0">
                <a:solidFill>
                  <a:srgbClr val="33475C"/>
                </a:solidFill>
                <a:latin typeface="Arial"/>
              </a:rPr>
              <a:t> — citations point at documents, not at a database row.</a:t>
            </a:r>
          </a:p>
          <a:p>
            <a:pPr>
              <a:spcAft>
                <a:spcPts val="400"/>
              </a:spcAft>
            </a:pPr>
            <a:r>
              <a:rPr sz="1250" b="0" i="0">
                <a:solidFill>
                  <a:srgbClr val="33475C"/>
                </a:solidFill>
                <a:latin typeface="Arial"/>
              </a:rPr>
              <a:t>Claude is told to include the links and paste the reference list verbatim, and never to invent a URL.</a:t>
            </a:r>
          </a:p>
        </p:txBody>
      </p:sp>
      <p:sp>
        <p:nvSpPr>
          <p:cNvPr id="9" name="Rounded Rectangle 8"/>
          <p:cNvSpPr/>
          <p:nvPr/>
        </p:nvSpPr>
        <p:spPr>
          <a:xfrm>
            <a:off x="6556248" y="1234440"/>
            <a:ext cx="5056632" cy="265176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56248" y="1234440"/>
            <a:ext cx="50292" cy="265176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9128" y="1353312"/>
            <a:ext cx="4736592" cy="2432304"/>
          </a:xfrm>
          <a:prstGeom prst="rect">
            <a:avLst/>
          </a:prstGeom>
          <a:noFill/>
        </p:spPr>
        <p:txBody>
          <a:bodyPr wrap="square" lIns="0" rIns="0" tIns="0" bIns="0">
            <a:spAutoFit/>
          </a:bodyPr>
          <a:lstStyle/>
          <a:p>
            <a:pPr>
              <a:spcAft>
                <a:spcPts val="600"/>
              </a:spcAft>
            </a:pPr>
            <a:r>
              <a:rPr sz="1350" b="1" i="0">
                <a:solidFill>
                  <a:srgbClr val="0B1F33"/>
                </a:solidFill>
                <a:latin typeface="Arial"/>
              </a:rPr>
              <a:t>Confidentiality</a:t>
            </a:r>
          </a:p>
          <a:p>
            <a:pPr>
              <a:spcAft>
                <a:spcPts val="400"/>
              </a:spcAft>
            </a:pPr>
            <a:r>
              <a:rPr sz="1250" b="0" i="0">
                <a:solidFill>
                  <a:srgbClr val="33475C"/>
                </a:solidFill>
                <a:latin typeface="Arial"/>
              </a:rPr>
              <a:t>Some D.Quals projects are marked confidential — by project, by client, or both.</a:t>
            </a:r>
          </a:p>
          <a:p>
            <a:pPr>
              <a:spcAft>
                <a:spcPts val="400"/>
              </a:spcAft>
            </a:pPr>
            <a:r>
              <a:rPr sz="1250" b="0" i="0">
                <a:solidFill>
                  <a:srgbClr val="33475C"/>
                </a:solidFill>
                <a:latin typeface="Arial"/>
              </a:rPr>
              <a:t>When they are, a </a:t>
            </a:r>
            <a:r>
              <a:rPr sz="1250" b="1" i="0">
                <a:solidFill>
                  <a:srgbClr val="0B1F33"/>
                </a:solidFill>
                <a:latin typeface="Arial"/>
              </a:rPr>
              <a:t>bold label</a:t>
            </a:r>
            <a:r>
              <a:rPr sz="1250" b="0" i="0">
                <a:solidFill>
                  <a:srgbClr val="33475C"/>
                </a:solidFill>
                <a:latin typeface="Arial"/>
              </a:rPr>
              <a:t> is added to the result and Claude is required to show it next to the project name.</a:t>
            </a:r>
          </a:p>
          <a:p>
            <a:pPr>
              <a:spcAft>
                <a:spcPts val="400"/>
              </a:spcAft>
            </a:pPr>
            <a:r>
              <a:rPr sz="1250" b="0" i="0">
                <a:solidFill>
                  <a:srgbClr val="33475C"/>
                </a:solidFill>
                <a:latin typeface="Arial"/>
              </a:rPr>
              <a:t>Nothing is hidden: the content, the fields and the document link are all still returned. The label is a *flag*, not a redaction.</a:t>
            </a:r>
          </a:p>
        </p:txBody>
      </p:sp>
      <p:sp>
        <p:nvSpPr>
          <p:cNvPr id="12" name="Rounded Rectangle 11"/>
          <p:cNvSpPr/>
          <p:nvPr/>
        </p:nvSpPr>
        <p:spPr>
          <a:xfrm>
            <a:off x="566928" y="4069080"/>
            <a:ext cx="11057839" cy="210312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4069080"/>
            <a:ext cx="50292" cy="210312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4187952"/>
            <a:ext cx="10737799" cy="1883664"/>
          </a:xfrm>
          <a:prstGeom prst="rect">
            <a:avLst/>
          </a:prstGeom>
          <a:noFill/>
        </p:spPr>
        <p:txBody>
          <a:bodyPr wrap="square" lIns="0" rIns="0" tIns="0" bIns="0">
            <a:spAutoFit/>
          </a:bodyPr>
          <a:lstStyle/>
          <a:p>
            <a:pPr>
              <a:spcAft>
                <a:spcPts val="600"/>
              </a:spcAft>
            </a:pPr>
            <a:r>
              <a:rPr sz="1350" b="1" i="0">
                <a:solidFill>
                  <a:srgbClr val="0B1F33"/>
                </a:solidFill>
                <a:latin typeface="Arial"/>
              </a:rPr>
              <a:t>Why this lives in the tool description</a:t>
            </a:r>
          </a:p>
          <a:p>
            <a:pPr>
              <a:spcAft>
                <a:spcPts val="400"/>
              </a:spcAft>
            </a:pPr>
            <a:r>
              <a:rPr sz="1250" b="0" i="0">
                <a:solidFill>
                  <a:srgbClr val="33475C"/>
                </a:solidFill>
                <a:latin typeface="Arial"/>
              </a:rPr>
              <a:t>The server doesn't write the answer — Claude does. So rules about *how results must be presented* can't be enforced in our code; they have to travel with the tools.</a:t>
            </a:r>
          </a:p>
          <a:p>
            <a:pPr>
              <a:spcAft>
                <a:spcPts val="400"/>
              </a:spcAft>
            </a:pPr>
            <a:r>
              <a:rPr sz="1250" b="0" i="0">
                <a:solidFill>
                  <a:srgbClr val="33475C"/>
                </a:solidFill>
                <a:latin typeface="Arial"/>
              </a:rPr>
              <a:t>That's why each tool's description carries the citation rule and the confidentiality rule explicitly. The tool interface is the contract.</a:t>
            </a:r>
          </a:p>
          <a:p>
            <a:pPr>
              <a:spcAft>
                <a:spcPts val="400"/>
              </a:spcAft>
            </a:pPr>
            <a:r>
              <a:rPr sz="1250" b="0" i="0">
                <a:solidFill>
                  <a:srgbClr val="33475C"/>
                </a:solidFill>
                <a:latin typeface="Arial"/>
              </a:rPr>
              <a:t>It also keeps the server simple: no answer generation, no formatting, no prose — retrieve, ground, return.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Adding a new source</a:t>
            </a:r>
          </a:p>
          <a:p>
            <a:pPr>
              <a:spcBef>
                <a:spcPts val="200"/>
              </a:spcBef>
            </a:pPr>
            <a:r>
              <a:rPr sz="1150" b="0" i="0">
                <a:solidFill>
                  <a:srgbClr val="9FB6CC"/>
                </a:solidFill>
                <a:latin typeface="Arial"/>
              </a:rPr>
              <a:t>Three config files, three commands, no code</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15</a:t>
            </a:r>
          </a:p>
        </p:txBody>
      </p:sp>
      <p:sp>
        <p:nvSpPr>
          <p:cNvPr id="6" name="Rounded Rectangle 5"/>
          <p:cNvSpPr/>
          <p:nvPr/>
        </p:nvSpPr>
        <p:spPr>
          <a:xfrm>
            <a:off x="566928" y="1280160"/>
            <a:ext cx="3600602" cy="777240"/>
          </a:xfrm>
          <a:prstGeom prst="roundRect">
            <a:avLst>
              <a:gd name="adj" fmla="val 12000"/>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Describe the sync</a:t>
            </a:r>
          </a:p>
          <a:p>
            <a:pPr algn="ctr">
              <a:spcBef>
                <a:spcPts val="100"/>
              </a:spcBef>
            </a:pPr>
            <a:r>
              <a:rPr sz="950" b="0" i="0">
                <a:solidFill>
                  <a:srgbClr val="DDE8F5"/>
                </a:solidFill>
                <a:latin typeface="Arial"/>
              </a:rPr>
              <a:t>which base, which columns</a:t>
            </a:r>
          </a:p>
        </p:txBody>
      </p:sp>
      <p:sp>
        <p:nvSpPr>
          <p:cNvPr id="7" name="Right Arrow 6"/>
          <p:cNvSpPr/>
          <p:nvPr/>
        </p:nvSpPr>
        <p:spPr>
          <a:xfrm>
            <a:off x="4185452" y="1544421"/>
            <a:ext cx="92171" cy="248716"/>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5546" y="1280160"/>
            <a:ext cx="3600602" cy="777240"/>
          </a:xfrm>
          <a:prstGeom prst="roundRect">
            <a:avLst>
              <a:gd name="adj" fmla="val 12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Describe the chunking</a:t>
            </a:r>
          </a:p>
          <a:p>
            <a:pPr algn="ctr">
              <a:spcBef>
                <a:spcPts val="100"/>
              </a:spcBef>
            </a:pPr>
            <a:r>
              <a:rPr sz="950" b="0" i="0">
                <a:solidFill>
                  <a:srgbClr val="DDE8F5"/>
                </a:solidFill>
                <a:latin typeface="Arial"/>
              </a:rPr>
              <a:t>strategy + index name</a:t>
            </a:r>
          </a:p>
        </p:txBody>
      </p:sp>
      <p:sp>
        <p:nvSpPr>
          <p:cNvPr id="9" name="Right Arrow 8"/>
          <p:cNvSpPr/>
          <p:nvPr/>
        </p:nvSpPr>
        <p:spPr>
          <a:xfrm>
            <a:off x="7914070" y="1544421"/>
            <a:ext cx="92171" cy="248716"/>
          </a:xfrm>
          <a:prstGeom prst="rightArrow">
            <a:avLst/>
          </a:prstGeom>
          <a:solidFill>
            <a:srgbClr val="8E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24164" y="1280160"/>
            <a:ext cx="3600602" cy="777240"/>
          </a:xfrm>
          <a:prstGeom prst="roundRect">
            <a:avLst>
              <a:gd name="adj" fmla="val 12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Describe the source</a:t>
            </a:r>
          </a:p>
          <a:p>
            <a:pPr algn="ctr">
              <a:spcBef>
                <a:spcPts val="100"/>
              </a:spcBef>
            </a:pPr>
            <a:r>
              <a:rPr sz="950" b="0" i="0">
                <a:solidFill>
                  <a:srgbClr val="DDE8F5"/>
                </a:solidFill>
                <a:latin typeface="Arial"/>
              </a:rPr>
              <a:t>how Claude should route to it</a:t>
            </a:r>
          </a:p>
        </p:txBody>
      </p:sp>
      <p:sp>
        <p:nvSpPr>
          <p:cNvPr id="11" name="TextBox 10"/>
          <p:cNvSpPr txBox="1"/>
          <p:nvPr/>
        </p:nvSpPr>
        <p:spPr>
          <a:xfrm>
            <a:off x="566928" y="2377440"/>
            <a:ext cx="11057839" cy="5056632"/>
          </a:xfrm>
          <a:prstGeom prst="rect">
            <a:avLst/>
          </a:prstGeom>
          <a:noFill/>
        </p:spPr>
        <p:txBody>
          <a:bodyPr wrap="square" lIns="0" rIns="0" tIns="0" bIns="0">
            <a:spAutoFit/>
          </a:bodyPr>
          <a:lstStyle/>
          <a:p>
            <a:pPr>
              <a:spcBef>
                <a:spcPts val="200"/>
              </a:spcBef>
              <a:spcAft>
                <a:spcPts val="1100"/>
              </a:spcAft>
            </a:pPr>
            <a:r>
              <a:rPr sz="1400" b="1" i="0">
                <a:solidFill>
                  <a:srgbClr val="2D6CDF"/>
                </a:solidFill>
                <a:latin typeface="Arial"/>
              </a:rPr>
              <a:t>▪  </a:t>
            </a:r>
            <a:r>
              <a:rPr sz="1400" b="0" i="0">
                <a:solidFill>
                  <a:srgbClr val="33475C"/>
                </a:solidFill>
                <a:latin typeface="Arial"/>
              </a:rPr>
              <a:t>Then run </a:t>
            </a:r>
            <a:r>
              <a:rPr sz="1400" b="1" i="0">
                <a:solidFill>
                  <a:srgbClr val="0B1F33"/>
                </a:solidFill>
                <a:latin typeface="Arial"/>
              </a:rPr>
              <a:t>sync → extract → index</a:t>
            </a:r>
            <a:r>
              <a:rPr sz="1400" b="0" i="0">
                <a:solidFill>
                  <a:srgbClr val="33475C"/>
                </a:solidFill>
                <a:latin typeface="Arial"/>
              </a:rPr>
              <a:t>, and restart the server. Claude discovers the new source automatically the next time it connects.</a:t>
            </a:r>
          </a:p>
          <a:p>
            <a:pPr>
              <a:spcBef>
                <a:spcPts val="200"/>
              </a:spcBef>
              <a:spcAft>
                <a:spcPts val="1100"/>
              </a:spcAft>
            </a:pPr>
            <a:r>
              <a:rPr sz="1400" b="1" i="0">
                <a:solidFill>
                  <a:srgbClr val="2D6CDF"/>
                </a:solidFill>
                <a:latin typeface="Arial"/>
              </a:rPr>
              <a:t>▪  </a:t>
            </a:r>
            <a:r>
              <a:rPr sz="1400" b="1" i="0">
                <a:solidFill>
                  <a:srgbClr val="0B1F33"/>
                </a:solidFill>
                <a:latin typeface="Arial"/>
              </a:rPr>
              <a:t>The description field is functional, not decorative.</a:t>
            </a:r>
            <a:r>
              <a:rPr sz="1400" b="0" i="0">
                <a:solidFill>
                  <a:srgbClr val="33475C"/>
                </a:solidFill>
                <a:latin typeface="Arial"/>
              </a:rPr>
              <a:t> It is the routing instruction Claude reads when deciding where to look — *"a question about a person goes here; about a project, to D.Quals; spanning both, to both."*</a:t>
            </a:r>
          </a:p>
          <a:p>
            <a:pPr>
              <a:spcBef>
                <a:spcPts val="200"/>
              </a:spcBef>
              <a:spcAft>
                <a:spcPts val="1100"/>
              </a:spcAft>
            </a:pPr>
            <a:r>
              <a:rPr sz="1400" b="1" i="0">
                <a:solidFill>
                  <a:srgbClr val="2D6CDF"/>
                </a:solidFill>
                <a:latin typeface="Arial"/>
              </a:rPr>
              <a:t>▪  </a:t>
            </a:r>
            <a:r>
              <a:rPr sz="1400" b="0" i="0">
                <a:solidFill>
                  <a:srgbClr val="33475C"/>
                </a:solidFill>
                <a:latin typeface="Arial"/>
              </a:rPr>
              <a:t>It also carries company conventions the model cannot infer — for example, that "Project Director" means the </a:t>
            </a:r>
            <a:r>
              <a:rPr sz="1400" b="1" i="0">
                <a:solidFill>
                  <a:srgbClr val="0B1F33"/>
                </a:solidFill>
                <a:latin typeface="Arial"/>
              </a:rPr>
              <a:t>Dalberg Contact Person</a:t>
            </a:r>
            <a:r>
              <a:rPr sz="1400" b="0" i="0">
                <a:solidFill>
                  <a:srgbClr val="33475C"/>
                </a:solidFill>
                <a:latin typeface="Arial"/>
              </a:rPr>
              <a:t> field, so those questions become a lookup rather than a search.</a:t>
            </a:r>
          </a:p>
          <a:p>
            <a:pPr>
              <a:spcBef>
                <a:spcPts val="200"/>
              </a:spcBef>
              <a:spcAft>
                <a:spcPts val="1100"/>
              </a:spcAft>
            </a:pPr>
            <a:r>
              <a:rPr sz="1400" b="1" i="0">
                <a:solidFill>
                  <a:srgbClr val="2D6CDF"/>
                </a:solidFill>
                <a:latin typeface="Arial"/>
              </a:rPr>
              <a:t>▪  </a:t>
            </a:r>
            <a:r>
              <a:rPr sz="1400" b="1" i="0">
                <a:solidFill>
                  <a:srgbClr val="0B1F33"/>
                </a:solidFill>
                <a:latin typeface="Arial"/>
              </a:rPr>
              <a:t>What this buys us:</a:t>
            </a:r>
            <a:r>
              <a:rPr sz="1400" b="0" i="0">
                <a:solidFill>
                  <a:srgbClr val="33475C"/>
                </a:solidFill>
                <a:latin typeface="Arial"/>
              </a:rPr>
              <a:t> four sources today share one tool set, one index mapping and one retrieval path. The fifth costs a config file, not a project.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When things go wrong</a:t>
            </a:r>
          </a:p>
          <a:p>
            <a:pPr>
              <a:spcBef>
                <a:spcPts val="200"/>
              </a:spcBef>
            </a:pPr>
            <a:r>
              <a:rPr sz="1150" b="0" i="0">
                <a:solidFill>
                  <a:srgbClr val="9FB6CC"/>
                </a:solidFill>
                <a:latin typeface="Arial"/>
              </a:rPr>
              <a:t>Every failure degrades to something useful</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16</a:t>
            </a:r>
          </a:p>
        </p:txBody>
      </p:sp>
      <p:graphicFrame>
        <p:nvGraphicFramePr>
          <p:cNvPr id="6" name="Table 5"/>
          <p:cNvGraphicFramePr>
            <a:graphicFrameLocks noGrp="1"/>
          </p:cNvGraphicFramePr>
          <p:nvPr/>
        </p:nvGraphicFramePr>
        <p:xfrm>
          <a:off x="566928" y="1234440"/>
          <a:ext cx="11057838" cy="3547872"/>
        </p:xfrm>
        <a:graphic>
          <a:graphicData uri="http://schemas.openxmlformats.org/drawingml/2006/table">
            <a:tbl>
              <a:tblPr firstRow="1">
                <a:tableStyleId>{5C22544A-7EE6-4342-B048-85BDC9FD1C3A}</a:tableStyleId>
              </a:tblPr>
              <a:tblGrid>
                <a:gridCol w="3759665"/>
                <a:gridCol w="7298173"/>
              </a:tblGrid>
              <a:tr h="347472">
                <a:tc>
                  <a:txBody>
                    <a:bodyPr/>
                    <a:lstStyle/>
                    <a:p>
                      <a:r>
                        <a:rPr sz="1200" b="1" i="0">
                          <a:solidFill>
                            <a:srgbClr val="FFFFFF"/>
                          </a:solidFill>
                          <a:latin typeface="Arial"/>
                        </a:rPr>
                        <a:t>If this fails…</a:t>
                      </a:r>
                    </a:p>
                  </a:txBody>
                  <a:tcPr marL="82296" marR="54864" marT="27432" marB="27432" anchor="ctr">
                    <a:solidFill>
                      <a:srgbClr val="0B1F33"/>
                    </a:solidFill>
                  </a:tcPr>
                </a:tc>
                <a:tc>
                  <a:txBody>
                    <a:bodyPr/>
                    <a:lstStyle/>
                    <a:p>
                      <a:r>
                        <a:rPr sz="1200" b="1" i="0">
                          <a:solidFill>
                            <a:srgbClr val="FFFFFF"/>
                          </a:solidFill>
                          <a:latin typeface="Arial"/>
                        </a:rPr>
                        <a:t>…this happens instead</a:t>
                      </a:r>
                    </a:p>
                  </a:txBody>
                  <a:tcPr marL="82296" marR="54864" marT="27432" marB="27432" anchor="ctr">
                    <a:solidFill>
                      <a:srgbClr val="0B1F33"/>
                    </a:solidFill>
                  </a:tcPr>
                </a:tc>
              </a:tr>
              <a:tr h="457200">
                <a:tc>
                  <a:txBody>
                    <a:bodyPr/>
                    <a:lstStyle/>
                    <a:p>
                      <a:r>
                        <a:rPr sz="1250" b="0" i="0">
                          <a:solidFill>
                            <a:srgbClr val="33475C"/>
                          </a:solidFill>
                          <a:latin typeface="Arial"/>
                        </a:rPr>
                        <a:t>The question can't be embedded</a:t>
                      </a:r>
                    </a:p>
                  </a:txBody>
                  <a:tcPr marL="82296" marR="54864" marT="18288" marB="18288" anchor="ctr">
                    <a:solidFill>
                      <a:srgbClr val="F4F7FA"/>
                    </a:solidFill>
                  </a:tcPr>
                </a:tc>
                <a:tc>
                  <a:txBody>
                    <a:bodyPr/>
                    <a:lstStyle/>
                    <a:p>
                      <a:r>
                        <a:rPr sz="1250" b="0" i="0">
                          <a:solidFill>
                            <a:srgbClr val="33475C"/>
                          </a:solidFill>
                          <a:latin typeface="Arial"/>
                        </a:rPr>
                        <a:t>Keyword search still runs and still answers</a:t>
                      </a:r>
                    </a:p>
                  </a:txBody>
                  <a:tcPr marL="82296" marR="54864" marT="18288" marB="18288" anchor="ctr">
                    <a:solidFill>
                      <a:srgbClr val="F4F7FA"/>
                    </a:solidFill>
                  </a:tcPr>
                </a:tc>
              </a:tr>
              <a:tr h="457200">
                <a:tc>
                  <a:txBody>
                    <a:bodyPr/>
                    <a:lstStyle/>
                    <a:p>
                      <a:r>
                        <a:rPr sz="1250" b="0" i="0">
                          <a:solidFill>
                            <a:srgbClr val="33475C"/>
                          </a:solidFill>
                          <a:latin typeface="Arial"/>
                        </a:rPr>
                        <a:t>One source is slow or broken</a:t>
                      </a:r>
                    </a:p>
                  </a:txBody>
                  <a:tcPr marL="82296" marR="54864" marT="18288" marB="18288" anchor="ctr">
                    <a:solidFill>
                      <a:srgbClr val="FFFFFF"/>
                    </a:solidFill>
                  </a:tcPr>
                </a:tc>
                <a:tc>
                  <a:txBody>
                    <a:bodyPr/>
                    <a:lstStyle/>
                    <a:p>
                      <a:r>
                        <a:rPr sz="1250" b="0" i="0">
                          <a:solidFill>
                            <a:srgbClr val="33475C"/>
                          </a:solidFill>
                          <a:latin typeface="Arial"/>
                        </a:rPr>
                        <a:t>The others return normally — a bad source can't take the query down</a:t>
                      </a:r>
                    </a:p>
                  </a:txBody>
                  <a:tcPr marL="82296" marR="54864" marT="18288" marB="18288" anchor="ctr">
                    <a:solidFill>
                      <a:srgbClr val="FFFFFF"/>
                    </a:solidFill>
                  </a:tcPr>
                </a:tc>
              </a:tr>
              <a:tr h="457200">
                <a:tc>
                  <a:txBody>
                    <a:bodyPr/>
                    <a:lstStyle/>
                    <a:p>
                      <a:r>
                        <a:rPr sz="1250" b="0" i="0">
                          <a:solidFill>
                            <a:srgbClr val="33475C"/>
                          </a:solidFill>
                          <a:latin typeface="Arial"/>
                        </a:rPr>
                        <a:t>The planner call fails</a:t>
                      </a:r>
                    </a:p>
                  </a:txBody>
                  <a:tcPr marL="82296" marR="54864" marT="18288" marB="18288" anchor="ctr">
                    <a:solidFill>
                      <a:srgbClr val="F4F7FA"/>
                    </a:solidFill>
                  </a:tcPr>
                </a:tc>
                <a:tc>
                  <a:txBody>
                    <a:bodyPr/>
                    <a:lstStyle/>
                    <a:p>
                      <a:r>
                        <a:rPr sz="1250" b="0" i="0">
                          <a:solidFill>
                            <a:srgbClr val="33475C"/>
                          </a:solidFill>
                          <a:latin typeface="Arial"/>
                        </a:rPr>
                        <a:t>Falls back to a plain meaning-based search of the raw question</a:t>
                      </a:r>
                    </a:p>
                  </a:txBody>
                  <a:tcPr marL="82296" marR="54864" marT="18288" marB="18288" anchor="ctr">
                    <a:solidFill>
                      <a:srgbClr val="F4F7FA"/>
                    </a:solidFill>
                  </a:tcPr>
                </a:tc>
              </a:tr>
              <a:tr h="457200">
                <a:tc>
                  <a:txBody>
                    <a:bodyPr/>
                    <a:lstStyle/>
                    <a:p>
                      <a:r>
                        <a:rPr sz="1250" b="0" i="0">
                          <a:solidFill>
                            <a:srgbClr val="33475C"/>
                          </a:solidFill>
                          <a:latin typeface="Arial"/>
                        </a:rPr>
                        <a:t>Filter extraction fails</a:t>
                      </a:r>
                    </a:p>
                  </a:txBody>
                  <a:tcPr marL="82296" marR="54864" marT="18288" marB="18288" anchor="ctr">
                    <a:solidFill>
                      <a:srgbClr val="FFFFFF"/>
                    </a:solidFill>
                  </a:tcPr>
                </a:tc>
                <a:tc>
                  <a:txBody>
                    <a:bodyPr/>
                    <a:lstStyle/>
                    <a:p>
                      <a:r>
                        <a:rPr sz="1250" b="0" i="0">
                          <a:solidFill>
                            <a:srgbClr val="33475C"/>
                          </a:solidFill>
                          <a:latin typeface="Arial"/>
                        </a:rPr>
                        <a:t>The search runs unfiltered — slightly noisier, never empty</a:t>
                      </a:r>
                    </a:p>
                  </a:txBody>
                  <a:tcPr marL="82296" marR="54864" marT="18288" marB="18288" anchor="ctr">
                    <a:solidFill>
                      <a:srgbClr val="FFFFFF"/>
                    </a:solidFill>
                  </a:tcPr>
                </a:tc>
              </a:tr>
              <a:tr h="457200">
                <a:tc>
                  <a:txBody>
                    <a:bodyPr/>
                    <a:lstStyle/>
                    <a:p>
                      <a:r>
                        <a:rPr sz="1250" b="0" i="0">
                          <a:solidFill>
                            <a:srgbClr val="33475C"/>
                          </a:solidFill>
                          <a:latin typeface="Arial"/>
                        </a:rPr>
                        <a:t>The reranker fails</a:t>
                      </a:r>
                    </a:p>
                  </a:txBody>
                  <a:tcPr marL="82296" marR="54864" marT="18288" marB="18288" anchor="ctr">
                    <a:solidFill>
                      <a:srgbClr val="F4F7FA"/>
                    </a:solidFill>
                  </a:tcPr>
                </a:tc>
                <a:tc>
                  <a:txBody>
                    <a:bodyPr/>
                    <a:lstStyle/>
                    <a:p>
                      <a:r>
                        <a:rPr sz="1250" b="0" i="0">
                          <a:solidFill>
                            <a:srgbClr val="33475C"/>
                          </a:solidFill>
                          <a:latin typeface="Arial"/>
                        </a:rPr>
                        <a:t>The merged ranking is returned as-is</a:t>
                      </a:r>
                    </a:p>
                  </a:txBody>
                  <a:tcPr marL="82296" marR="54864" marT="18288" marB="18288" anchor="ctr">
                    <a:solidFill>
                      <a:srgbClr val="F4F7FA"/>
                    </a:solidFill>
                  </a:tcPr>
                </a:tc>
              </a:tr>
              <a:tr h="457200">
                <a:tc>
                  <a:txBody>
                    <a:bodyPr/>
                    <a:lstStyle/>
                    <a:p>
                      <a:r>
                        <a:rPr sz="1250" b="0" i="0">
                          <a:solidFill>
                            <a:srgbClr val="33475C"/>
                          </a:solidFill>
                          <a:latin typeface="Arial"/>
                        </a:rPr>
                        <a:t>Document extraction fails</a:t>
                      </a:r>
                    </a:p>
                  </a:txBody>
                  <a:tcPr marL="82296" marR="54864" marT="18288" marB="18288" anchor="ctr">
                    <a:solidFill>
                      <a:srgbClr val="FFFFFF"/>
                    </a:solidFill>
                  </a:tcPr>
                </a:tc>
                <a:tc>
                  <a:txBody>
                    <a:bodyPr/>
                    <a:lstStyle/>
                    <a:p>
                      <a:r>
                        <a:rPr sz="1250" b="0" i="0">
                          <a:solidFill>
                            <a:srgbClr val="33475C"/>
                          </a:solidFill>
                          <a:latin typeface="Arial"/>
                        </a:rPr>
                        <a:t>The original file is kept and retried on the next run; nothing is lost</a:t>
                      </a:r>
                    </a:p>
                  </a:txBody>
                  <a:tcPr marL="82296" marR="54864" marT="18288" marB="18288" anchor="ctr">
                    <a:solidFill>
                      <a:srgbClr val="FFFFFF"/>
                    </a:solidFill>
                  </a:tcPr>
                </a:tc>
              </a:tr>
              <a:tr h="457200">
                <a:tc>
                  <a:txBody>
                    <a:bodyPr/>
                    <a:lstStyle/>
                    <a:p>
                      <a:r>
                        <a:rPr sz="1250" b="0" i="0">
                          <a:solidFill>
                            <a:srgbClr val="33475C"/>
                          </a:solidFill>
                          <a:latin typeface="Arial"/>
                        </a:rPr>
                        <a:t>A rate limit is hit</a:t>
                      </a:r>
                    </a:p>
                  </a:txBody>
                  <a:tcPr marL="82296" marR="54864" marT="18288" marB="18288" anchor="ctr">
                    <a:solidFill>
                      <a:srgbClr val="F4F7FA"/>
                    </a:solidFill>
                  </a:tcPr>
                </a:tc>
                <a:tc>
                  <a:txBody>
                    <a:bodyPr/>
                    <a:lstStyle/>
                    <a:p>
                      <a:r>
                        <a:rPr sz="1250" b="0" i="0">
                          <a:solidFill>
                            <a:srgbClr val="33475C"/>
                          </a:solidFill>
                          <a:latin typeface="Arial"/>
                        </a:rPr>
                        <a:t>Automatic retry with backoff, up to five attempts</a:t>
                      </a:r>
                    </a:p>
                  </a:txBody>
                  <a:tcPr marL="82296" marR="54864" marT="18288" marB="18288" anchor="ctr">
                    <a:solidFill>
                      <a:srgbClr val="F4F7FA"/>
                    </a:solidFill>
                  </a:tcPr>
                </a:tc>
              </a:tr>
            </a:tbl>
          </a:graphicData>
        </a:graphic>
      </p:graphicFrame>
      <p:sp>
        <p:nvSpPr>
          <p:cNvPr id="7" name="Rounded Rectangle 6"/>
          <p:cNvSpPr/>
          <p:nvPr/>
        </p:nvSpPr>
        <p:spPr>
          <a:xfrm>
            <a:off x="566928" y="5074920"/>
            <a:ext cx="11057839" cy="109728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5074920"/>
            <a:ext cx="50292" cy="109728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5193792"/>
            <a:ext cx="10737799" cy="877824"/>
          </a:xfrm>
          <a:prstGeom prst="rect">
            <a:avLst/>
          </a:prstGeom>
          <a:noFill/>
        </p:spPr>
        <p:txBody>
          <a:bodyPr wrap="square" lIns="0" rIns="0" tIns="0" bIns="0">
            <a:spAutoFit/>
          </a:bodyPr>
          <a:lstStyle/>
          <a:p>
            <a:pPr>
              <a:spcAft>
                <a:spcPts val="600"/>
              </a:spcAft>
            </a:pPr>
            <a:r>
              <a:rPr sz="1350" b="1" i="0">
                <a:solidFill>
                  <a:srgbClr val="0B1F33"/>
                </a:solidFill>
                <a:latin typeface="Arial"/>
              </a:rPr>
              <a:t>How we see it</a:t>
            </a:r>
          </a:p>
          <a:p>
            <a:pPr>
              <a:spcAft>
                <a:spcPts val="400"/>
              </a:spcAft>
            </a:pPr>
            <a:r>
              <a:rPr sz="1250" b="0" i="0">
                <a:solidFill>
                  <a:srgbClr val="33475C"/>
                </a:solidFill>
                <a:latin typeface="Arial"/>
              </a:rPr>
              <a:t>Structured JSON logs throughout, and every response carries a diagnostics block: which sources answered, how long each took, what plan was chosen, and what failed. Nothing degrades silently.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Troubleshooting</a:t>
            </a:r>
          </a:p>
          <a:p>
            <a:pPr>
              <a:spcBef>
                <a:spcPts val="200"/>
              </a:spcBef>
            </a:pPr>
            <a:r>
              <a:rPr sz="1150" b="0" i="0">
                <a:solidFill>
                  <a:srgbClr val="9FB6CC"/>
                </a:solidFill>
                <a:latin typeface="Arial"/>
              </a:rPr>
              <a:t>Work down the list — each step assumes the one above passed</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17</a:t>
            </a:r>
          </a:p>
        </p:txBody>
      </p:sp>
      <p:graphicFrame>
        <p:nvGraphicFramePr>
          <p:cNvPr id="6" name="Table 5"/>
          <p:cNvGraphicFramePr>
            <a:graphicFrameLocks noGrp="1"/>
          </p:cNvGraphicFramePr>
          <p:nvPr/>
        </p:nvGraphicFramePr>
        <p:xfrm>
          <a:off x="566928" y="1207008"/>
          <a:ext cx="11057838" cy="3749040"/>
        </p:xfrm>
        <a:graphic>
          <a:graphicData uri="http://schemas.openxmlformats.org/drawingml/2006/table">
            <a:tbl>
              <a:tblPr firstRow="1">
                <a:tableStyleId>{5C22544A-7EE6-4342-B048-85BDC9FD1C3A}</a:tableStyleId>
              </a:tblPr>
              <a:tblGrid>
                <a:gridCol w="3317351"/>
                <a:gridCol w="3759665"/>
                <a:gridCol w="3980822"/>
              </a:tblGrid>
              <a:tr h="347472">
                <a:tc>
                  <a:txBody>
                    <a:bodyPr/>
                    <a:lstStyle/>
                    <a:p>
                      <a:r>
                        <a:rPr sz="1200" b="1" i="0">
                          <a:solidFill>
                            <a:srgbClr val="FFFFFF"/>
                          </a:solidFill>
                          <a:latin typeface="Arial"/>
                        </a:rPr>
                        <a:t>Symptom</a:t>
                      </a:r>
                    </a:p>
                  </a:txBody>
                  <a:tcPr marL="82296" marR="54864" marT="27432" marB="27432" anchor="ctr">
                    <a:solidFill>
                      <a:srgbClr val="0B1F33"/>
                    </a:solidFill>
                  </a:tcPr>
                </a:tc>
                <a:tc>
                  <a:txBody>
                    <a:bodyPr/>
                    <a:lstStyle/>
                    <a:p>
                      <a:r>
                        <a:rPr sz="1200" b="1" i="0">
                          <a:solidFill>
                            <a:srgbClr val="FFFFFF"/>
                          </a:solidFill>
                          <a:latin typeface="Arial"/>
                        </a:rPr>
                        <a:t>Check</a:t>
                      </a:r>
                    </a:p>
                  </a:txBody>
                  <a:tcPr marL="82296" marR="54864" marT="27432" marB="27432" anchor="ctr">
                    <a:solidFill>
                      <a:srgbClr val="0B1F33"/>
                    </a:solidFill>
                  </a:tcPr>
                </a:tc>
                <a:tc>
                  <a:txBody>
                    <a:bodyPr/>
                    <a:lstStyle/>
                    <a:p>
                      <a:r>
                        <a:rPr sz="1200" b="1" i="0">
                          <a:solidFill>
                            <a:srgbClr val="FFFFFF"/>
                          </a:solidFill>
                          <a:latin typeface="Arial"/>
                        </a:rPr>
                        <a:t>Do this</a:t>
                      </a:r>
                    </a:p>
                  </a:txBody>
                  <a:tcPr marL="82296" marR="54864" marT="27432" marB="27432" anchor="ctr">
                    <a:solidFill>
                      <a:srgbClr val="0B1F33"/>
                    </a:solidFill>
                  </a:tcPr>
                </a:tc>
              </a:tr>
              <a:tr h="566928">
                <a:tc>
                  <a:txBody>
                    <a:bodyPr/>
                    <a:lstStyle/>
                    <a:p>
                      <a:r>
                        <a:rPr sz="1200" b="0" i="0">
                          <a:solidFill>
                            <a:srgbClr val="33475C"/>
                          </a:solidFill>
                          <a:latin typeface="Arial"/>
                        </a:rPr>
                        <a:t>The tool doesn't appear in Claude at all</a:t>
                      </a:r>
                    </a:p>
                  </a:txBody>
                  <a:tcPr marL="82296" marR="54864" marT="18288" marB="18288" anchor="ctr">
                    <a:solidFill>
                      <a:srgbClr val="F4F7FA"/>
                    </a:solidFill>
                  </a:tcPr>
                </a:tc>
                <a:tc>
                  <a:txBody>
                    <a:bodyPr/>
                    <a:lstStyle/>
                    <a:p>
                      <a:r>
                        <a:rPr sz="1200" b="0" i="0">
                          <a:solidFill>
                            <a:srgbClr val="33475C"/>
                          </a:solidFill>
                          <a:latin typeface="Arial"/>
                        </a:rPr>
                        <a:t>The connector list in Claude settings</a:t>
                      </a:r>
                    </a:p>
                  </a:txBody>
                  <a:tcPr marL="82296" marR="54864" marT="18288" marB="18288" anchor="ctr">
                    <a:solidFill>
                      <a:srgbClr val="F4F7FA"/>
                    </a:solidFill>
                  </a:tcPr>
                </a:tc>
                <a:tc>
                  <a:txBody>
                    <a:bodyPr/>
                    <a:lstStyle/>
                    <a:p>
                      <a:r>
                        <a:rPr sz="1200" b="0" i="0">
                          <a:solidFill>
                            <a:srgbClr val="33475C"/>
                          </a:solidFill>
                          <a:latin typeface="Arial"/>
                        </a:rPr>
                        <a:t>Make sure the </a:t>
                      </a:r>
                      <a:r>
                        <a:rPr sz="1200" b="1" i="0">
                          <a:solidFill>
                            <a:srgbClr val="0B1F33"/>
                          </a:solidFill>
                          <a:latin typeface="Arial"/>
                        </a:rPr>
                        <a:t>Lucie connector</a:t>
                      </a:r>
                      <a:r>
                        <a:rPr sz="1200" b="0" i="0">
                          <a:solidFill>
                            <a:srgbClr val="33475C"/>
                          </a:solidFill>
                          <a:latin typeface="Arial"/>
                        </a:rPr>
                        <a:t> is switched on</a:t>
                      </a:r>
                    </a:p>
                  </a:txBody>
                  <a:tcPr marL="82296" marR="54864" marT="18288" marB="18288" anchor="ctr">
                    <a:solidFill>
                      <a:srgbClr val="F4F7FA"/>
                    </a:solidFill>
                  </a:tcPr>
                </a:tc>
              </a:tr>
              <a:tr h="566928">
                <a:tc>
                  <a:txBody>
                    <a:bodyPr/>
                    <a:lstStyle/>
                    <a:p>
                      <a:r>
                        <a:rPr sz="1200" b="0" i="0">
                          <a:solidFill>
                            <a:srgbClr val="33475C"/>
                          </a:solidFill>
                          <a:latin typeface="Arial"/>
                        </a:rPr>
                        <a:t>Connector is active, but no results come back</a:t>
                      </a:r>
                    </a:p>
                  </a:txBody>
                  <a:tcPr marL="82296" marR="54864" marT="18288" marB="18288" anchor="ctr">
                    <a:solidFill>
                      <a:srgbClr val="FFFFFF"/>
                    </a:solidFill>
                  </a:tcPr>
                </a:tc>
                <a:tc>
                  <a:txBody>
                    <a:bodyPr/>
                    <a:lstStyle/>
                    <a:p>
                      <a:r>
                        <a:rPr sz="1200" b="0" i="0">
                          <a:solidFill>
                            <a:srgbClr val="33475C"/>
                          </a:solidFill>
                          <a:latin typeface="Arial"/>
                        </a:rPr>
                        <a:t>Whether the model is actually calling the tool</a:t>
                      </a:r>
                    </a:p>
                  </a:txBody>
                  <a:tcPr marL="82296" marR="54864" marT="18288" marB="18288" anchor="ctr">
                    <a:solidFill>
                      <a:srgbClr val="FFFFFF"/>
                    </a:solidFill>
                  </a:tcPr>
                </a:tc>
                <a:tc>
                  <a:txBody>
                    <a:bodyPr/>
                    <a:lstStyle/>
                    <a:p>
                      <a:r>
                        <a:rPr sz="1200" b="0" i="0">
                          <a:solidFill>
                            <a:srgbClr val="33475C"/>
                          </a:solidFill>
                          <a:latin typeface="Arial"/>
                        </a:rPr>
                        <a:t>Ask the user to retry with:  *«insert the standard prompt»*</a:t>
                      </a:r>
                    </a:p>
                  </a:txBody>
                  <a:tcPr marL="82296" marR="54864" marT="18288" marB="18288" anchor="ctr">
                    <a:solidFill>
                      <a:srgbClr val="FFFFFF"/>
                    </a:solidFill>
                  </a:tcPr>
                </a:tc>
              </a:tr>
              <a:tr h="566928">
                <a:tc>
                  <a:txBody>
                    <a:bodyPr/>
                    <a:lstStyle/>
                    <a:p>
                      <a:r>
                        <a:rPr sz="1200" b="0" i="0">
                          <a:solidFill>
                            <a:srgbClr val="33475C"/>
                          </a:solidFill>
                          <a:latin typeface="Arial"/>
                        </a:rPr>
                        <a:t>Connector shows as down</a:t>
                      </a:r>
                    </a:p>
                  </a:txBody>
                  <a:tcPr marL="82296" marR="54864" marT="18288" marB="18288" anchor="ctr">
                    <a:solidFill>
                      <a:srgbClr val="F4F7FA"/>
                    </a:solidFill>
                  </a:tcPr>
                </a:tc>
                <a:tc>
                  <a:txBody>
                    <a:bodyPr/>
                    <a:lstStyle/>
                    <a:p>
                      <a:r>
                        <a:rPr sz="1200" b="0" i="0">
                          <a:solidFill>
                            <a:srgbClr val="33475C"/>
                          </a:solidFill>
                          <a:latin typeface="Arial"/>
                        </a:rPr>
                        <a:t>On the EC2 box — is the Docker container running?</a:t>
                      </a:r>
                    </a:p>
                  </a:txBody>
                  <a:tcPr marL="82296" marR="54864" marT="18288" marB="18288" anchor="ctr">
                    <a:solidFill>
                      <a:srgbClr val="F4F7FA"/>
                    </a:solidFill>
                  </a:tcPr>
                </a:tc>
                <a:tc>
                  <a:txBody>
                    <a:bodyPr/>
                    <a:lstStyle/>
                    <a:p>
                      <a:r>
                        <a:rPr sz="1200" b="0" i="0">
                          <a:solidFill>
                            <a:srgbClr val="33475C"/>
                          </a:solidFill>
                          <a:latin typeface="Arial"/>
                        </a:rPr>
                        <a:t>Bring the container back up</a:t>
                      </a:r>
                    </a:p>
                  </a:txBody>
                  <a:tcPr marL="82296" marR="54864" marT="18288" marB="18288" anchor="ctr">
                    <a:solidFill>
                      <a:srgbClr val="F4F7FA"/>
                    </a:solidFill>
                  </a:tcPr>
                </a:tc>
              </a:tr>
              <a:tr h="566928">
                <a:tc>
                  <a:txBody>
                    <a:bodyPr/>
                    <a:lstStyle/>
                    <a:p>
                      <a:r>
                        <a:rPr sz="1200" b="0" i="0">
                          <a:solidFill>
                            <a:srgbClr val="33475C"/>
                          </a:solidFill>
                          <a:latin typeface="Arial"/>
                        </a:rPr>
                        <a:t>Container is up but calls still fail</a:t>
                      </a:r>
                    </a:p>
                  </a:txBody>
                  <a:tcPr marL="82296" marR="54864" marT="18288" marB="18288" anchor="ctr">
                    <a:solidFill>
                      <a:srgbClr val="FFFFFF"/>
                    </a:solidFill>
                  </a:tcPr>
                </a:tc>
                <a:tc>
                  <a:txBody>
                    <a:bodyPr/>
                    <a:lstStyle/>
                    <a:p>
                      <a:r>
                        <a:rPr sz="1200" b="0" i="0">
                          <a:solidFill>
                            <a:srgbClr val="33475C"/>
                          </a:solidFill>
                          <a:latin typeface="Arial"/>
                        </a:rPr>
                        <a:t>The container logs</a:t>
                      </a:r>
                    </a:p>
                  </a:txBody>
                  <a:tcPr marL="82296" marR="54864" marT="18288" marB="18288" anchor="ctr">
                    <a:solidFill>
                      <a:srgbClr val="FFFFFF"/>
                    </a:solidFill>
                  </a:tcPr>
                </a:tc>
                <a:tc>
                  <a:txBody>
                    <a:bodyPr/>
                    <a:lstStyle/>
                    <a:p>
                      <a:r>
                        <a:rPr sz="1200" b="0" i="0">
                          <a:solidFill>
                            <a:srgbClr val="33475C"/>
                          </a:solidFill>
                          <a:latin typeface="Arial"/>
                        </a:rPr>
                        <a:t>Read the logs for the failing call before changing anything</a:t>
                      </a:r>
                    </a:p>
                  </a:txBody>
                  <a:tcPr marL="82296" marR="54864" marT="18288" marB="18288" anchor="ctr">
                    <a:solidFill>
                      <a:srgbClr val="FFFFFF"/>
                    </a:solidFill>
                  </a:tcPr>
                </a:tc>
              </a:tr>
              <a:tr h="566928">
                <a:tc>
                  <a:txBody>
                    <a:bodyPr/>
                    <a:lstStyle/>
                    <a:p>
                      <a:r>
                        <a:rPr sz="1200" b="0" i="0">
                          <a:solidFill>
                            <a:srgbClr val="33475C"/>
                          </a:solidFill>
                          <a:latin typeface="Arial"/>
                        </a:rPr>
                        <a:t>One record never appears, even after retrying</a:t>
                      </a:r>
                    </a:p>
                  </a:txBody>
                  <a:tcPr marL="82296" marR="54864" marT="18288" marB="18288" anchor="ctr">
                    <a:solidFill>
                      <a:srgbClr val="F4F7FA"/>
                    </a:solidFill>
                  </a:tcPr>
                </a:tc>
                <a:tc>
                  <a:txBody>
                    <a:bodyPr/>
                    <a:lstStyle/>
                    <a:p>
                      <a:r>
                        <a:rPr sz="1200" b="0" i="0">
                          <a:solidFill>
                            <a:srgbClr val="33475C"/>
                          </a:solidFill>
                          <a:latin typeface="Arial"/>
                        </a:rPr>
                        <a:t>S3 console — does the file actually exist?</a:t>
                      </a:r>
                    </a:p>
                  </a:txBody>
                  <a:tcPr marL="82296" marR="54864" marT="18288" marB="18288" anchor="ctr">
                    <a:solidFill>
                      <a:srgbClr val="F4F7FA"/>
                    </a:solidFill>
                  </a:tcPr>
                </a:tc>
                <a:tc>
                  <a:txBody>
                    <a:bodyPr/>
                    <a:lstStyle/>
                    <a:p>
                      <a:r>
                        <a:rPr sz="1200" b="0" i="0">
                          <a:solidFill>
                            <a:srgbClr val="33475C"/>
                          </a:solidFill>
                          <a:latin typeface="Arial"/>
                        </a:rPr>
                        <a:t>Check the </a:t>
                      </a:r>
                      <a:r>
                        <a:rPr sz="1200" b="1" i="0">
                          <a:solidFill>
                            <a:srgbClr val="0B1F33"/>
                          </a:solidFill>
                          <a:latin typeface="Arial"/>
                        </a:rPr>
                        <a:t>identifier for that table</a:t>
                      </a:r>
                      <a:r>
                        <a:rPr sz="1200" b="0" i="0">
                          <a:solidFill>
                            <a:srgbClr val="33475C"/>
                          </a:solidFill>
                          <a:latin typeface="Arial"/>
                        </a:rPr>
                        <a:t> matches the S3 path</a:t>
                      </a:r>
                    </a:p>
                  </a:txBody>
                  <a:tcPr marL="82296" marR="54864" marT="18288" marB="18288" anchor="ctr">
                    <a:solidFill>
                      <a:srgbClr val="F4F7FA"/>
                    </a:solidFill>
                  </a:tcPr>
                </a:tc>
              </a:tr>
              <a:tr h="566928">
                <a:tc>
                  <a:txBody>
                    <a:bodyPr/>
                    <a:lstStyle/>
                    <a:p>
                      <a:r>
                        <a:rPr sz="1200" b="0" i="0">
                          <a:solidFill>
                            <a:srgbClr val="33475C"/>
                          </a:solidFill>
                          <a:latin typeface="Arial"/>
                        </a:rPr>
                        <a:t>File is in S3 (or missing entirely) but never in results</a:t>
                      </a:r>
                    </a:p>
                  </a:txBody>
                  <a:tcPr marL="82296" marR="54864" marT="18288" marB="18288" anchor="ctr">
                    <a:solidFill>
                      <a:srgbClr val="FFFFFF"/>
                    </a:solidFill>
                  </a:tcPr>
                </a:tc>
                <a:tc>
                  <a:txBody>
                    <a:bodyPr/>
                    <a:lstStyle/>
                    <a:p>
                      <a:r>
                        <a:rPr sz="1200" b="0" i="0">
                          <a:solidFill>
                            <a:srgbClr val="33475C"/>
                          </a:solidFill>
                          <a:latin typeface="Arial"/>
                        </a:rPr>
                        <a:t>It was never extracted, embedded or synced</a:t>
                      </a:r>
                    </a:p>
                  </a:txBody>
                  <a:tcPr marL="82296" marR="54864" marT="18288" marB="18288" anchor="ctr">
                    <a:solidFill>
                      <a:srgbClr val="FFFFFF"/>
                    </a:solidFill>
                  </a:tcPr>
                </a:tc>
                <a:tc>
                  <a:txBody>
                    <a:bodyPr/>
                    <a:lstStyle/>
                    <a:p>
                      <a:r>
                        <a:rPr sz="1200" b="0" i="0">
                          <a:solidFill>
                            <a:srgbClr val="33475C"/>
                          </a:solidFill>
                          <a:latin typeface="Arial"/>
                        </a:rPr>
                        <a:t>Put the Airtable record on the </a:t>
                      </a:r>
                      <a:r>
                        <a:rPr sz="1200" b="1" i="0">
                          <a:solidFill>
                            <a:srgbClr val="0B1F33"/>
                          </a:solidFill>
                          <a:latin typeface="Arial"/>
                        </a:rPr>
                        <a:t>SQS queue</a:t>
                      </a:r>
                      <a:r>
                        <a:rPr sz="1200" b="0" i="0">
                          <a:solidFill>
                            <a:srgbClr val="33475C"/>
                          </a:solidFill>
                          <a:latin typeface="Arial"/>
                        </a:rPr>
                        <a:t> — the worker syncs, extracts and embeds it in one pass</a:t>
                      </a:r>
                    </a:p>
                  </a:txBody>
                  <a:tcPr marL="82296" marR="54864" marT="18288" marB="18288" anchor="ctr">
                    <a:solidFill>
                      <a:srgbClr val="FFFFFF"/>
                    </a:solidFill>
                  </a:tcPr>
                </a:tc>
              </a:tr>
            </a:tbl>
          </a:graphicData>
        </a:graphic>
      </p:graphicFrame>
      <p:sp>
        <p:nvSpPr>
          <p:cNvPr id="7" name="Rounded Rectangle 6"/>
          <p:cNvSpPr/>
          <p:nvPr/>
        </p:nvSpPr>
        <p:spPr>
          <a:xfrm>
            <a:off x="566928" y="5257800"/>
            <a:ext cx="11057839" cy="1143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5257800"/>
            <a:ext cx="50292" cy="114300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49808" y="5376672"/>
            <a:ext cx="10737799" cy="923544"/>
          </a:xfrm>
          <a:prstGeom prst="rect">
            <a:avLst/>
          </a:prstGeom>
          <a:noFill/>
        </p:spPr>
        <p:txBody>
          <a:bodyPr wrap="square" lIns="0" rIns="0" tIns="0" bIns="0">
            <a:spAutoFit/>
          </a:bodyPr>
          <a:lstStyle/>
          <a:p>
            <a:pPr>
              <a:spcAft>
                <a:spcPts val="600"/>
              </a:spcAft>
            </a:pPr>
            <a:r>
              <a:rPr sz="1350" b="1" i="0">
                <a:solidFill>
                  <a:srgbClr val="0B1F33"/>
                </a:solidFill>
                <a:latin typeface="Arial"/>
              </a:rPr>
              <a:t>One gotcha — adding a new Airtable column to the embeddings</a:t>
            </a:r>
          </a:p>
          <a:p>
            <a:pPr>
              <a:spcAft>
                <a:spcPts val="400"/>
              </a:spcAft>
            </a:pPr>
            <a:r>
              <a:rPr sz="1250" b="0" i="0">
                <a:solidFill>
                  <a:srgbClr val="33475C"/>
                </a:solidFill>
                <a:latin typeface="Arial"/>
              </a:rPr>
              <a:t>Re-running ingestion </a:t>
            </a:r>
            <a:r>
              <a:rPr sz="1250" b="1" i="0">
                <a:solidFill>
                  <a:srgbClr val="0B1F33"/>
                </a:solidFill>
                <a:latin typeface="Arial"/>
              </a:rPr>
              <a:t>adds</a:t>
            </a:r>
            <a:r>
              <a:rPr sz="1250" b="0" i="0">
                <a:solidFill>
                  <a:srgbClr val="33475C"/>
                </a:solidFill>
                <a:latin typeface="Arial"/>
              </a:rPr>
              <a:t> the new content, but the chunks from the previous version are still in the index. Delete the stale chunks after refilling, or both versions stay searchable and results will contradict each other.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Where it stands</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18</a:t>
            </a:r>
          </a:p>
        </p:txBody>
      </p:sp>
      <p:sp>
        <p:nvSpPr>
          <p:cNvPr id="6" name="Rounded Rectangle 5"/>
          <p:cNvSpPr/>
          <p:nvPr/>
        </p:nvSpPr>
        <p:spPr>
          <a:xfrm>
            <a:off x="566928" y="1234440"/>
            <a:ext cx="5715000" cy="246888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34440"/>
            <a:ext cx="50292" cy="246888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53312"/>
            <a:ext cx="5394960" cy="2249424"/>
          </a:xfrm>
          <a:prstGeom prst="rect">
            <a:avLst/>
          </a:prstGeom>
          <a:noFill/>
        </p:spPr>
        <p:txBody>
          <a:bodyPr wrap="square" lIns="0" rIns="0" tIns="0" bIns="0">
            <a:spAutoFit/>
          </a:bodyPr>
          <a:lstStyle/>
          <a:p>
            <a:pPr>
              <a:spcAft>
                <a:spcPts val="600"/>
              </a:spcAft>
            </a:pPr>
            <a:r>
              <a:rPr sz="1350" b="1" i="0">
                <a:solidFill>
                  <a:srgbClr val="0B1F33"/>
                </a:solidFill>
                <a:latin typeface="Arial"/>
              </a:rPr>
              <a:t>Working today</a:t>
            </a:r>
          </a:p>
          <a:p>
            <a:pPr>
              <a:spcAft>
                <a:spcPts val="400"/>
              </a:spcAft>
            </a:pPr>
            <a:r>
              <a:rPr sz="1250" b="0" i="0">
                <a:solidFill>
                  <a:srgbClr val="33475C"/>
                </a:solidFill>
                <a:latin typeface="Arial"/>
              </a:rPr>
              <a:t>Four sources live behind one shared tool set and one index design.</a:t>
            </a:r>
          </a:p>
          <a:p>
            <a:pPr>
              <a:spcAft>
                <a:spcPts val="400"/>
              </a:spcAft>
            </a:pPr>
            <a:r>
              <a:rPr sz="1250" b="0" i="0">
                <a:solidFill>
                  <a:srgbClr val="33475C"/>
                </a:solidFill>
                <a:latin typeface="Arial"/>
              </a:rPr>
              <a:t>Hybrid search with reranking, and filters grounded in real index values.</a:t>
            </a:r>
          </a:p>
          <a:p>
            <a:pPr>
              <a:spcAft>
                <a:spcPts val="400"/>
              </a:spcAft>
            </a:pPr>
            <a:r>
              <a:rPr sz="1250" b="0" i="0">
                <a:solidFill>
                  <a:srgbClr val="33475C"/>
                </a:solidFill>
                <a:latin typeface="Arial"/>
              </a:rPr>
              <a:t>Document-level citations on every hit; confidentiality labelling on D.Quals.</a:t>
            </a:r>
          </a:p>
          <a:p>
            <a:pPr>
              <a:spcAft>
                <a:spcPts val="400"/>
              </a:spcAft>
            </a:pPr>
            <a:r>
              <a:rPr sz="1250" b="0" i="0">
                <a:solidFill>
                  <a:srgbClr val="33475C"/>
                </a:solidFill>
                <a:latin typeface="Arial"/>
              </a:rPr>
              <a:t>Microsoft sign-in on the server; concurrent multi-source queries.</a:t>
            </a:r>
          </a:p>
        </p:txBody>
      </p:sp>
      <p:sp>
        <p:nvSpPr>
          <p:cNvPr id="9" name="Rounded Rectangle 8"/>
          <p:cNvSpPr/>
          <p:nvPr/>
        </p:nvSpPr>
        <p:spPr>
          <a:xfrm>
            <a:off x="6556248" y="1234440"/>
            <a:ext cx="5056632" cy="246888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56248" y="1234440"/>
            <a:ext cx="50292" cy="246888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39128" y="1353312"/>
            <a:ext cx="4736592" cy="2249424"/>
          </a:xfrm>
          <a:prstGeom prst="rect">
            <a:avLst/>
          </a:prstGeom>
          <a:noFill/>
        </p:spPr>
        <p:txBody>
          <a:bodyPr wrap="square" lIns="0" rIns="0" tIns="0" bIns="0">
            <a:spAutoFit/>
          </a:bodyPr>
          <a:lstStyle/>
          <a:p>
            <a:pPr>
              <a:spcAft>
                <a:spcPts val="600"/>
              </a:spcAft>
            </a:pPr>
            <a:r>
              <a:rPr sz="1350" b="1" i="0">
                <a:solidFill>
                  <a:srgbClr val="0B1F33"/>
                </a:solidFill>
                <a:latin typeface="Arial"/>
              </a:rPr>
              <a:t>Known limits</a:t>
            </a:r>
          </a:p>
          <a:p>
            <a:pPr>
              <a:spcAft>
                <a:spcPts val="400"/>
              </a:spcAft>
            </a:pPr>
            <a:r>
              <a:rPr sz="1250" b="1" i="0">
                <a:solidFill>
                  <a:srgbClr val="0B1F33"/>
                </a:solidFill>
                <a:latin typeface="Arial"/>
              </a:rPr>
              <a:t>Single-node search cluster</a:t>
            </a:r>
            <a:r>
              <a:rPr sz="1250" b="0" i="0">
                <a:solidFill>
                  <a:srgbClr val="33475C"/>
                </a:solidFill>
                <a:latin typeface="Arial"/>
              </a:rPr>
              <a:t> — no replica, and the reason recall depth is tuned conservatively.</a:t>
            </a:r>
          </a:p>
          <a:p>
            <a:pPr>
              <a:spcAft>
                <a:spcPts val="400"/>
              </a:spcAft>
            </a:pPr>
            <a:r>
              <a:rPr sz="1250" b="1" i="0">
                <a:solidFill>
                  <a:srgbClr val="0B1F33"/>
                </a:solidFill>
                <a:latin typeface="Arial"/>
              </a:rPr>
              <a:t>Ingestion is only partly automatic</a:t>
            </a:r>
            <a:r>
              <a:rPr sz="1250" b="0" i="0">
                <a:solidFill>
                  <a:srgbClr val="33475C"/>
                </a:solidFill>
                <a:latin typeface="Arial"/>
              </a:rPr>
              <a:t> — D.Quals re-ingests itself when an attachment changes; the other three are still run by hand.</a:t>
            </a:r>
          </a:p>
          <a:p>
            <a:pPr>
              <a:spcAft>
                <a:spcPts val="400"/>
              </a:spcAft>
            </a:pPr>
            <a:r>
              <a:rPr sz="1250" b="1" i="0">
                <a:solidFill>
                  <a:srgbClr val="0B1F33"/>
                </a:solidFill>
                <a:latin typeface="Arial"/>
              </a:rPr>
              <a:t>Airtable stays the system of record</a:t>
            </a:r>
            <a:r>
              <a:rPr sz="1250" b="0" i="0">
                <a:solidFill>
                  <a:srgbClr val="33475C"/>
                </a:solidFill>
                <a:latin typeface="Arial"/>
              </a:rPr>
              <a:t> — structured fields are fetched live on every query.</a:t>
            </a:r>
          </a:p>
        </p:txBody>
      </p:sp>
      <p:sp>
        <p:nvSpPr>
          <p:cNvPr id="12" name="Rounded Rectangle 11"/>
          <p:cNvSpPr/>
          <p:nvPr/>
        </p:nvSpPr>
        <p:spPr>
          <a:xfrm>
            <a:off x="566928" y="3886200"/>
            <a:ext cx="11057839" cy="2286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3886200"/>
            <a:ext cx="50292" cy="22860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 y="4005072"/>
            <a:ext cx="10737799" cy="2066544"/>
          </a:xfrm>
          <a:prstGeom prst="rect">
            <a:avLst/>
          </a:prstGeom>
          <a:noFill/>
        </p:spPr>
        <p:txBody>
          <a:bodyPr wrap="square" lIns="0" rIns="0" tIns="0" bIns="0">
            <a:spAutoFit/>
          </a:bodyPr>
          <a:lstStyle/>
          <a:p>
            <a:pPr>
              <a:spcAft>
                <a:spcPts val="600"/>
              </a:spcAft>
            </a:pPr>
            <a:r>
              <a:rPr sz="1350" b="1" i="0">
                <a:solidFill>
                  <a:srgbClr val="0B1F33"/>
                </a:solidFill>
                <a:latin typeface="Arial"/>
              </a:rPr>
              <a:t>In three sentences</a:t>
            </a:r>
          </a:p>
          <a:p>
            <a:pPr>
              <a:spcAft>
                <a:spcPts val="400"/>
              </a:spcAft>
            </a:pPr>
            <a:r>
              <a:rPr sz="1300" b="1" i="0">
                <a:solidFill>
                  <a:srgbClr val="0B1F33"/>
                </a:solidFill>
                <a:latin typeface="Arial"/>
              </a:rPr>
              <a:t>Ingest</a:t>
            </a:r>
            <a:r>
              <a:rPr sz="1300" b="0" i="0">
                <a:solidFill>
                  <a:srgbClr val="33475C"/>
                </a:solidFill>
                <a:latin typeface="Arial"/>
              </a:rPr>
              <a:t> turns messy decks into clean, slide-structured text — using a parser where it works and a vision model only where it doesn't — then chunks, embeds and indexes it so re-runs are always safe.</a:t>
            </a:r>
          </a:p>
          <a:p>
            <a:pPr>
              <a:spcAft>
                <a:spcPts val="400"/>
              </a:spcAft>
            </a:pPr>
            <a:r>
              <a:rPr sz="1300" b="1" i="0">
                <a:solidFill>
                  <a:srgbClr val="0B1F33"/>
                </a:solidFill>
                <a:latin typeface="Arial"/>
              </a:rPr>
              <a:t>Retrieve</a:t>
            </a:r>
            <a:r>
              <a:rPr sz="1300" b="0" i="0">
                <a:solidFill>
                  <a:srgbClr val="33475C"/>
                </a:solidFill>
                <a:latin typeface="Arial"/>
              </a:rPr>
              <a:t> plans the query, grounds its filters in values that really exist, searches by meaning and by keyword at once, merges by rank, and lets a reranker make the final call.</a:t>
            </a:r>
          </a:p>
          <a:p>
            <a:pPr>
              <a:spcAft>
                <a:spcPts val="400"/>
              </a:spcAft>
            </a:pPr>
            <a:r>
              <a:rPr sz="1300" b="1" i="0">
                <a:solidFill>
                  <a:srgbClr val="0B1F33"/>
                </a:solidFill>
                <a:latin typeface="Arial"/>
              </a:rPr>
              <a:t>Ground</a:t>
            </a:r>
            <a:r>
              <a:rPr sz="1300" b="0" i="0">
                <a:solidFill>
                  <a:srgbClr val="33475C"/>
                </a:solidFill>
                <a:latin typeface="Arial"/>
              </a:rPr>
              <a:t> every result in a real document link, and push the presentation rules into the tool interface, where the model that actually writes the answer will read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32688"/>
            <a:ext cx="12191695" cy="41148"/>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146304"/>
            <a:ext cx="8863279" cy="713232"/>
          </a:xfrm>
          <a:prstGeom prst="rect">
            <a:avLst/>
          </a:prstGeom>
          <a:noFill/>
        </p:spPr>
        <p:txBody>
          <a:bodyPr wrap="square" lIns="0" rIns="0" tIns="0" bIns="0" anchor="ctr">
            <a:spAutoFit/>
          </a:bodyPr>
          <a:lstStyle/>
          <a:p>
            <a:r>
              <a:rPr sz="2500" b="1" i="0">
                <a:solidFill>
                  <a:srgbClr val="FFFFFF"/>
                </a:solidFill>
                <a:latin typeface="Arial"/>
              </a:rPr>
              <a:t>Next up</a:t>
            </a:r>
          </a:p>
          <a:p>
            <a:pPr>
              <a:spcBef>
                <a:spcPts val="200"/>
              </a:spcBef>
            </a:pPr>
            <a:r>
              <a:rPr sz="1150" b="0" i="0">
                <a:solidFill>
                  <a:srgbClr val="9FB6CC"/>
                </a:solidFill>
                <a:latin typeface="Arial"/>
              </a:rPr>
              <a:t>Three open items</a:t>
            </a:r>
          </a:p>
        </p:txBody>
      </p:sp>
      <p:sp>
        <p:nvSpPr>
          <p:cNvPr id="5" name="TextBox 4"/>
          <p:cNvSpPr txBox="1"/>
          <p:nvPr/>
        </p:nvSpPr>
        <p:spPr>
          <a:xfrm>
            <a:off x="11277295" y="6437376"/>
            <a:ext cx="548640" cy="274320"/>
          </a:xfrm>
          <a:prstGeom prst="rect">
            <a:avLst/>
          </a:prstGeom>
          <a:noFill/>
        </p:spPr>
        <p:txBody>
          <a:bodyPr wrap="square" lIns="0" rIns="0" tIns="0" bIns="0">
            <a:spAutoFit/>
          </a:bodyPr>
          <a:lstStyle/>
          <a:p>
            <a:pPr algn="r"/>
            <a:r>
              <a:rPr sz="1000" b="0" i="0">
                <a:solidFill>
                  <a:srgbClr val="6B7C8C"/>
                </a:solidFill>
                <a:latin typeface="Arial"/>
              </a:rPr>
              <a:t>19</a:t>
            </a:r>
          </a:p>
        </p:txBody>
      </p:sp>
      <p:sp>
        <p:nvSpPr>
          <p:cNvPr id="6" name="Rounded Rectangle 5"/>
          <p:cNvSpPr/>
          <p:nvPr/>
        </p:nvSpPr>
        <p:spPr>
          <a:xfrm>
            <a:off x="566928" y="1280160"/>
            <a:ext cx="3533546" cy="3429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80160"/>
            <a:ext cx="50292" cy="3429000"/>
          </a:xfrm>
          <a:prstGeom prst="rect">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49808" y="1399032"/>
            <a:ext cx="3213506" cy="3209544"/>
          </a:xfrm>
          <a:prstGeom prst="rect">
            <a:avLst/>
          </a:prstGeom>
          <a:noFill/>
        </p:spPr>
        <p:txBody>
          <a:bodyPr wrap="square" lIns="0" rIns="0" tIns="0" bIns="0">
            <a:spAutoFit/>
          </a:bodyPr>
          <a:lstStyle/>
          <a:p>
            <a:pPr>
              <a:spcAft>
                <a:spcPts val="600"/>
              </a:spcAft>
            </a:pPr>
            <a:r>
              <a:rPr sz="1350" b="1" i="0">
                <a:solidFill>
                  <a:srgbClr val="0B1F33"/>
                </a:solidFill>
                <a:latin typeface="Arial"/>
              </a:rPr>
              <a:t>1 · Compress the vector index</a:t>
            </a:r>
          </a:p>
          <a:p>
            <a:pPr>
              <a:spcAft>
                <a:spcPts val="400"/>
              </a:spcAft>
            </a:pPr>
            <a:r>
              <a:rPr sz="1200" b="0" i="0">
                <a:solidFill>
                  <a:srgbClr val="33475C"/>
                </a:solidFill>
                <a:latin typeface="Arial"/>
              </a:rPr>
              <a:t>The search graph has outgrown the node's memory — that pressure is why search depth and accuracy are dialled down today.</a:t>
            </a:r>
          </a:p>
          <a:p>
            <a:pPr>
              <a:spcAft>
                <a:spcPts val="400"/>
              </a:spcAft>
            </a:pPr>
            <a:r>
              <a:rPr sz="1200" b="0" i="0">
                <a:solidFill>
                  <a:srgbClr val="33475C"/>
                </a:solidFill>
                <a:latin typeface="Arial"/>
              </a:rPr>
              <a:t>Move to </a:t>
            </a:r>
            <a:r>
              <a:rPr sz="1200" b="1" i="0">
                <a:solidFill>
                  <a:srgbClr val="0B1F33"/>
                </a:solidFill>
                <a:latin typeface="Arial"/>
              </a:rPr>
              <a:t>Faiss with 32× compression</a:t>
            </a:r>
            <a:r>
              <a:rPr sz="1200" b="0" i="0">
                <a:solidFill>
                  <a:srgbClr val="33475C"/>
                </a:solidFill>
                <a:latin typeface="Arial"/>
              </a:rPr>
              <a:t>, shrinking each vector's memory footprint by roughly 32×.</a:t>
            </a:r>
          </a:p>
          <a:p>
            <a:pPr>
              <a:spcAft>
                <a:spcPts val="400"/>
              </a:spcAft>
            </a:pPr>
            <a:r>
              <a:rPr sz="1200" b="0" i="0">
                <a:solidFill>
                  <a:srgbClr val="33475C"/>
                </a:solidFill>
                <a:latin typeface="Arial"/>
              </a:rPr>
              <a:t>Needs the indexes recreated and backfilled. The embeddings themselves don't change.</a:t>
            </a:r>
          </a:p>
          <a:p>
            <a:pPr>
              <a:spcAft>
                <a:spcPts val="400"/>
              </a:spcAft>
            </a:pPr>
            <a:r>
              <a:rPr sz="1200" b="1" i="0">
                <a:solidFill>
                  <a:srgbClr val="0B1F33"/>
                </a:solidFill>
                <a:latin typeface="Arial"/>
              </a:rPr>
              <a:t>Payoff:</a:t>
            </a:r>
            <a:r>
              <a:rPr sz="1200" b="0" i="0">
                <a:solidFill>
                  <a:srgbClr val="33475C"/>
                </a:solidFill>
                <a:latin typeface="Arial"/>
              </a:rPr>
              <a:t> headroom to raise recall settings back up.</a:t>
            </a:r>
          </a:p>
        </p:txBody>
      </p:sp>
      <p:sp>
        <p:nvSpPr>
          <p:cNvPr id="9" name="Rounded Rectangle 8"/>
          <p:cNvSpPr/>
          <p:nvPr/>
        </p:nvSpPr>
        <p:spPr>
          <a:xfrm>
            <a:off x="4329074" y="1280160"/>
            <a:ext cx="3533546" cy="3429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329074" y="1280160"/>
            <a:ext cx="50292" cy="3429000"/>
          </a:xfrm>
          <a:prstGeom prst="rect">
            <a:avLst/>
          </a:prstGeom>
          <a:solidFill>
            <a:srgbClr val="0E9F9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11954" y="1399032"/>
            <a:ext cx="3213506" cy="3209544"/>
          </a:xfrm>
          <a:prstGeom prst="rect">
            <a:avLst/>
          </a:prstGeom>
          <a:noFill/>
        </p:spPr>
        <p:txBody>
          <a:bodyPr wrap="square" lIns="0" rIns="0" tIns="0" bIns="0">
            <a:spAutoFit/>
          </a:bodyPr>
          <a:lstStyle/>
          <a:p>
            <a:pPr>
              <a:spcAft>
                <a:spcPts val="600"/>
              </a:spcAft>
            </a:pPr>
            <a:r>
              <a:rPr sz="1350" b="1" i="0">
                <a:solidFill>
                  <a:srgbClr val="0B1F33"/>
                </a:solidFill>
                <a:latin typeface="Arial"/>
              </a:rPr>
              <a:t>2 · Voyage key on a Dalberg account</a:t>
            </a:r>
          </a:p>
          <a:p>
            <a:pPr>
              <a:spcAft>
                <a:spcPts val="400"/>
              </a:spcAft>
            </a:pPr>
            <a:r>
              <a:rPr sz="1200" b="0" i="0">
                <a:solidFill>
                  <a:srgbClr val="33475C"/>
                </a:solidFill>
                <a:latin typeface="Arial"/>
              </a:rPr>
              <a:t>One key is used in two places: </a:t>
            </a:r>
            <a:r>
              <a:rPr sz="1200" b="1" i="0">
                <a:solidFill>
                  <a:srgbClr val="0B1F33"/>
                </a:solidFill>
                <a:latin typeface="Arial"/>
              </a:rPr>
              <a:t>embedding</a:t>
            </a:r>
            <a:r>
              <a:rPr sz="1200" b="0" i="0">
                <a:solidFill>
                  <a:srgbClr val="33475C"/>
                </a:solidFill>
                <a:latin typeface="Arial"/>
              </a:rPr>
              <a:t> during ingestion, and </a:t>
            </a:r>
            <a:r>
              <a:rPr sz="1200" b="1" i="0">
                <a:solidFill>
                  <a:srgbClr val="0B1F33"/>
                </a:solidFill>
                <a:latin typeface="Arial"/>
              </a:rPr>
              <a:t>reranking</a:t>
            </a:r>
            <a:r>
              <a:rPr sz="1200" b="0" i="0">
                <a:solidFill>
                  <a:srgbClr val="33475C"/>
                </a:solidFill>
                <a:latin typeface="Arial"/>
              </a:rPr>
              <a:t> on every live query.</a:t>
            </a:r>
          </a:p>
          <a:p>
            <a:pPr>
              <a:spcAft>
                <a:spcPts val="400"/>
              </a:spcAft>
            </a:pPr>
            <a:r>
              <a:rPr sz="1200" b="0" i="0">
                <a:solidFill>
                  <a:srgbClr val="33475C"/>
                </a:solidFill>
                <a:latin typeface="Arial"/>
              </a:rPr>
              <a:t>Swap it in the server environment and in the batch extraction jobs.</a:t>
            </a:r>
          </a:p>
          <a:p>
            <a:pPr>
              <a:spcAft>
                <a:spcPts val="400"/>
              </a:spcAft>
            </a:pPr>
            <a:r>
              <a:rPr sz="1200" b="0" i="0">
                <a:solidFill>
                  <a:srgbClr val="33475C"/>
                </a:solidFill>
                <a:latin typeface="Arial"/>
              </a:rPr>
              <a:t>Same model, so </a:t>
            </a:r>
            <a:r>
              <a:rPr sz="1200" b="1" i="0">
                <a:solidFill>
                  <a:srgbClr val="0B1F33"/>
                </a:solidFill>
                <a:latin typeface="Arial"/>
              </a:rPr>
              <a:t>nothing needs re-embedding</a:t>
            </a:r>
            <a:r>
              <a:rPr sz="1200" b="0" i="0">
                <a:solidFill>
                  <a:srgbClr val="33475C"/>
                </a:solidFill>
                <a:latin typeface="Arial"/>
              </a:rPr>
              <a:t> and the index is untouched.</a:t>
            </a:r>
          </a:p>
        </p:txBody>
      </p:sp>
      <p:sp>
        <p:nvSpPr>
          <p:cNvPr id="12" name="Rounded Rectangle 11"/>
          <p:cNvSpPr/>
          <p:nvPr/>
        </p:nvSpPr>
        <p:spPr>
          <a:xfrm>
            <a:off x="8091220" y="1280160"/>
            <a:ext cx="3533546" cy="342900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91220" y="1280160"/>
            <a:ext cx="50292" cy="34290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74100" y="1399032"/>
            <a:ext cx="3213506" cy="3209544"/>
          </a:xfrm>
          <a:prstGeom prst="rect">
            <a:avLst/>
          </a:prstGeom>
          <a:noFill/>
        </p:spPr>
        <p:txBody>
          <a:bodyPr wrap="square" lIns="0" rIns="0" tIns="0" bIns="0">
            <a:spAutoFit/>
          </a:bodyPr>
          <a:lstStyle/>
          <a:p>
            <a:pPr>
              <a:spcAft>
                <a:spcPts val="600"/>
              </a:spcAft>
            </a:pPr>
            <a:r>
              <a:rPr sz="1350" b="1" i="0">
                <a:solidFill>
                  <a:srgbClr val="0B1F33"/>
                </a:solidFill>
                <a:latin typeface="Arial"/>
              </a:rPr>
              <a:t>3 · Automatic ingestion via SQS</a:t>
            </a:r>
          </a:p>
          <a:p>
            <a:pPr>
              <a:spcAft>
                <a:spcPts val="400"/>
              </a:spcAft>
            </a:pPr>
            <a:r>
              <a:rPr sz="1200" b="0" i="0">
                <a:solidFill>
                  <a:srgbClr val="33475C"/>
                </a:solidFill>
                <a:latin typeface="Arial"/>
              </a:rPr>
              <a:t>Poller and worker are </a:t>
            </a:r>
            <a:r>
              <a:rPr sz="1200" b="1" i="0">
                <a:solidFill>
                  <a:srgbClr val="0B1F33"/>
                </a:solidFill>
                <a:latin typeface="Arial"/>
              </a:rPr>
              <a:t>already built</a:t>
            </a:r>
            <a:r>
              <a:rPr sz="1200" b="0" i="0">
                <a:solidFill>
                  <a:srgbClr val="33475C"/>
                </a:solidFill>
                <a:latin typeface="Arial"/>
              </a:rPr>
              <a:t>; D.Quals is opted in.</a:t>
            </a:r>
          </a:p>
          <a:p>
            <a:pPr>
              <a:spcAft>
                <a:spcPts val="400"/>
              </a:spcAft>
            </a:pPr>
            <a:r>
              <a:rPr sz="1200" b="0" i="0">
                <a:solidFill>
                  <a:srgbClr val="33475C"/>
                </a:solidFill>
                <a:latin typeface="Arial"/>
              </a:rPr>
              <a:t>Needs an end-to-end test: change an attachment → record is queued → worker syncs, extracts and embeds → the update shows up in search.</a:t>
            </a:r>
          </a:p>
          <a:p>
            <a:pPr>
              <a:spcAft>
                <a:spcPts val="400"/>
              </a:spcAft>
            </a:pPr>
            <a:r>
              <a:rPr sz="1200" b="0" i="0">
                <a:solidFill>
                  <a:srgbClr val="33475C"/>
                </a:solidFill>
                <a:latin typeface="Arial"/>
              </a:rPr>
              <a:t>Then enable it for Profiles, Proposals and Knowledge Library.</a:t>
            </a:r>
          </a:p>
        </p:txBody>
      </p:sp>
      <p:sp>
        <p:nvSpPr>
          <p:cNvPr id="15" name="Rounded Rectangle 14"/>
          <p:cNvSpPr/>
          <p:nvPr/>
        </p:nvSpPr>
        <p:spPr>
          <a:xfrm>
            <a:off x="566928" y="4937760"/>
            <a:ext cx="11057839" cy="1234440"/>
          </a:xfrm>
          <a:prstGeom prst="roundRect">
            <a:avLst>
              <a:gd name="adj" fmla="val 8000"/>
            </a:avLst>
          </a:prstGeom>
          <a:solidFill>
            <a:srgbClr val="F4F7FA"/>
          </a:solidFill>
          <a:ln w="12700">
            <a:solidFill>
              <a:srgbClr val="D5DE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4937760"/>
            <a:ext cx="50292" cy="1234440"/>
          </a:xfrm>
          <a:prstGeom prst="rect">
            <a:avLst/>
          </a:prstGeom>
          <a:solidFill>
            <a:srgbClr val="7A4E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9808" y="5056632"/>
            <a:ext cx="10737799" cy="1014984"/>
          </a:xfrm>
          <a:prstGeom prst="rect">
            <a:avLst/>
          </a:prstGeom>
          <a:noFill/>
        </p:spPr>
        <p:txBody>
          <a:bodyPr wrap="square" lIns="0" rIns="0" tIns="0" bIns="0">
            <a:spAutoFit/>
          </a:bodyPr>
          <a:lstStyle/>
          <a:p>
            <a:pPr>
              <a:spcAft>
                <a:spcPts val="600"/>
              </a:spcAft>
            </a:pPr>
            <a:r>
              <a:rPr sz="1350" b="1" i="0">
                <a:solidFill>
                  <a:srgbClr val="0B1F33"/>
                </a:solidFill>
                <a:latin typeface="Arial"/>
              </a:rPr>
              <a:t>Suggested order</a:t>
            </a:r>
          </a:p>
          <a:p>
            <a:pPr>
              <a:spcAft>
                <a:spcPts val="400"/>
              </a:spcAft>
            </a:pPr>
            <a:r>
              <a:rPr sz="1250" b="1" i="0">
                <a:solidFill>
                  <a:srgbClr val="0B1F33"/>
                </a:solidFill>
                <a:latin typeface="Arial"/>
              </a:rPr>
              <a:t>2</a:t>
            </a:r>
            <a:r>
              <a:rPr sz="1250" b="0" i="0">
                <a:solidFill>
                  <a:srgbClr val="33475C"/>
                </a:solidFill>
                <a:latin typeface="Arial"/>
              </a:rPr>
              <a:t> is independent and quick — do it whenever. </a:t>
            </a:r>
            <a:r>
              <a:rPr sz="1250" b="1" i="0">
                <a:solidFill>
                  <a:srgbClr val="0B1F33"/>
                </a:solidFill>
                <a:latin typeface="Arial"/>
              </a:rPr>
              <a:t>1</a:t>
            </a:r>
            <a:r>
              <a:rPr sz="1250" b="0" i="0">
                <a:solidFill>
                  <a:srgbClr val="33475C"/>
                </a:solidFill>
                <a:latin typeface="Arial"/>
              </a:rPr>
              <a:t> is the one that creates headroom, and everything else gets easier after it. Test </a:t>
            </a:r>
            <a:r>
              <a:rPr sz="1250" b="1" i="0">
                <a:solidFill>
                  <a:srgbClr val="0B1F33"/>
                </a:solidFill>
                <a:latin typeface="Arial"/>
              </a:rPr>
              <a:t>3</a:t>
            </a:r>
            <a:r>
              <a:rPr sz="1250" b="0" i="0">
                <a:solidFill>
                  <a:srgbClr val="33475C"/>
                </a:solidFill>
                <a:latin typeface="Arial"/>
              </a:rPr>
              <a:t> on D.Quals in parallel, but hold off switching all four sources to automatic ingestion until the index is compressed — continuous ingestion means continuously growing the graph, which is the problem item 1 is fixing.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